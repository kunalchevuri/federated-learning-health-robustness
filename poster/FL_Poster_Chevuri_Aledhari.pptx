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sldIdLst>
    <p:sldId id="256" r:id="rId5"/>
  </p:sldIdLst>
  <p:sldSz cx="21945600" cy="329184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439"/>
    <a:srgbClr val="006F33"/>
    <a:srgbClr val="E2F0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D8BA1A-6B88-4C10-AAB9-A8E082FC9F81}" v="31" dt="2026-08-27T21:06:32.7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132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6/11/relationships/changesInfo" Target="changesInfos/changesInfo1.xml"/><Relationship Id="rId1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vez, Adam" userId="4b96c546-e0ef-48cf-ad45-4211b362b303" providerId="ADAL" clId="{65F7D7E1-1086-475A-B866-87D93FA6EB20}"/>
    <pc:docChg chg="modSld">
      <pc:chgData name="Chavez, Adam" userId="4b96c546-e0ef-48cf-ad45-4211b362b303" providerId="ADAL" clId="{65F7D7E1-1086-475A-B866-87D93FA6EB20}" dt="2026-08-27T21:06:32.765" v="30"/>
      <pc:docMkLst>
        <pc:docMk/>
      </pc:docMkLst>
      <pc:sldChg chg="addSp modSp">
        <pc:chgData name="Chavez, Adam" userId="4b96c546-e0ef-48cf-ad45-4211b362b303" providerId="ADAL" clId="{65F7D7E1-1086-475A-B866-87D93FA6EB20}" dt="2026-08-27T21:06:32.765" v="30"/>
        <pc:sldMkLst>
          <pc:docMk/>
          <pc:sldMk cId="1040036484" sldId="256"/>
        </pc:sldMkLst>
        <pc:spChg chg="mod">
          <ac:chgData name="Chavez, Adam" userId="4b96c546-e0ef-48cf-ad45-4211b362b303" providerId="ADAL" clId="{65F7D7E1-1086-475A-B866-87D93FA6EB20}" dt="2026-08-27T21:04:34.177" v="17"/>
          <ac:spMkLst>
            <pc:docMk/>
            <pc:sldMk cId="1040036484" sldId="256"/>
            <ac:spMk id="15" creationId="{D46CAF31-D57E-C647-7FD1-0D8FF812F8E9}"/>
          </ac:spMkLst>
        </pc:spChg>
        <pc:spChg chg="mod">
          <ac:chgData name="Chavez, Adam" userId="4b96c546-e0ef-48cf-ad45-4211b362b303" providerId="ADAL" clId="{65F7D7E1-1086-475A-B866-87D93FA6EB20}" dt="2026-08-27T21:05:25.695" v="26"/>
          <ac:spMkLst>
            <pc:docMk/>
            <pc:sldMk cId="1040036484" sldId="256"/>
            <ac:spMk id="18" creationId="{49650CBE-7A43-B07A-2977-FBEF02B5F718}"/>
          </ac:spMkLst>
        </pc:spChg>
        <pc:spChg chg="mod">
          <ac:chgData name="Chavez, Adam" userId="4b96c546-e0ef-48cf-ad45-4211b362b303" providerId="ADAL" clId="{65F7D7E1-1086-475A-B866-87D93FA6EB20}" dt="2026-08-27T21:06:32.765" v="30"/>
          <ac:spMkLst>
            <pc:docMk/>
            <pc:sldMk cId="1040036484" sldId="256"/>
            <ac:spMk id="24" creationId="{1ED2C008-5246-117D-1B16-79F6DB43B572}"/>
          </ac:spMkLst>
        </pc:spChg>
        <pc:picChg chg="add mod">
          <ac:chgData name="Chavez, Adam" userId="4b96c546-e0ef-48cf-ad45-4211b362b303" providerId="ADAL" clId="{65F7D7E1-1086-475A-B866-87D93FA6EB20}" dt="2026-08-27T21:01:43.233" v="0"/>
          <ac:picMkLst>
            <pc:docMk/>
            <pc:sldMk cId="1040036484" sldId="256"/>
            <ac:picMk id="6" creationId="{AEE4096F-C37E-5785-B26E-C6146690E18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45920" y="5387342"/>
            <a:ext cx="18653760" cy="11460480"/>
          </a:xfrm>
        </p:spPr>
        <p:txBody>
          <a:bodyPr anchor="b"/>
          <a:lstStyle>
            <a:lvl1pPr algn="ctr">
              <a:defRPr sz="14400"/>
            </a:lvl1pPr>
          </a:lstStyle>
          <a:p>
            <a:r>
              <a:rPr lang="en-US"/>
              <a:t>Click to edit Master title style</a:t>
            </a:r>
            <a:endParaRPr lang="en-US" dirty="0"/>
          </a:p>
        </p:txBody>
      </p:sp>
      <p:sp>
        <p:nvSpPr>
          <p:cNvPr id="3" name="Subtitle 2"/>
          <p:cNvSpPr>
            <a:spLocks noGrp="1"/>
          </p:cNvSpPr>
          <p:nvPr>
            <p:ph type="subTitle" idx="1"/>
          </p:nvPr>
        </p:nvSpPr>
        <p:spPr>
          <a:xfrm>
            <a:off x="2743200" y="17289782"/>
            <a:ext cx="16459200" cy="7947658"/>
          </a:xfrm>
        </p:spPr>
        <p:txBody>
          <a:bodyPr/>
          <a:lstStyle>
            <a:lvl1pPr marL="0" indent="0" algn="ctr">
              <a:buNone/>
              <a:defRPr sz="5760"/>
            </a:lvl1pPr>
            <a:lvl2pPr marL="1097280" indent="0" algn="ctr">
              <a:buNone/>
              <a:defRPr sz="4800"/>
            </a:lvl2pPr>
            <a:lvl3pPr marL="2194560" indent="0" algn="ctr">
              <a:buNone/>
              <a:defRPr sz="4320"/>
            </a:lvl3pPr>
            <a:lvl4pPr marL="3291840" indent="0" algn="ctr">
              <a:buNone/>
              <a:defRPr sz="3840"/>
            </a:lvl4pPr>
            <a:lvl5pPr marL="4389120" indent="0" algn="ctr">
              <a:buNone/>
              <a:defRPr sz="3840"/>
            </a:lvl5pPr>
            <a:lvl6pPr marL="5486400" indent="0" algn="ctr">
              <a:buNone/>
              <a:defRPr sz="3840"/>
            </a:lvl6pPr>
            <a:lvl7pPr marL="6583680" indent="0" algn="ctr">
              <a:buNone/>
              <a:defRPr sz="3840"/>
            </a:lvl7pPr>
            <a:lvl8pPr marL="7680960" indent="0" algn="ctr">
              <a:buNone/>
              <a:defRPr sz="3840"/>
            </a:lvl8pPr>
            <a:lvl9pPr marL="8778240" indent="0" algn="ctr">
              <a:buNone/>
              <a:defRPr sz="38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4C8A3B-F308-473F-A1C4-090B4F222883}"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1D2D75-94A3-47B5-BE18-6EDAF605EBE6}" type="slidenum">
              <a:rPr lang="en-US" smtClean="0"/>
              <a:t>‹#›</a:t>
            </a:fld>
            <a:endParaRPr lang="en-US"/>
          </a:p>
        </p:txBody>
      </p:sp>
    </p:spTree>
    <p:extLst>
      <p:ext uri="{BB962C8B-B14F-4D97-AF65-F5344CB8AC3E}">
        <p14:creationId xmlns:p14="http://schemas.microsoft.com/office/powerpoint/2010/main" val="1052903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4C8A3B-F308-473F-A1C4-090B4F222883}"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1D2D75-94A3-47B5-BE18-6EDAF605EBE6}" type="slidenum">
              <a:rPr lang="en-US" smtClean="0"/>
              <a:t>‹#›</a:t>
            </a:fld>
            <a:endParaRPr lang="en-US"/>
          </a:p>
        </p:txBody>
      </p:sp>
    </p:spTree>
    <p:extLst>
      <p:ext uri="{BB962C8B-B14F-4D97-AF65-F5344CB8AC3E}">
        <p14:creationId xmlns:p14="http://schemas.microsoft.com/office/powerpoint/2010/main" val="1649549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97331" y="8206749"/>
            <a:ext cx="18928080" cy="13693138"/>
          </a:xfrm>
        </p:spPr>
        <p:txBody>
          <a:bodyPr anchor="b"/>
          <a:lstStyle>
            <a:lvl1pPr>
              <a:defRPr sz="14400"/>
            </a:lvl1pPr>
          </a:lstStyle>
          <a:p>
            <a:r>
              <a:rPr lang="en-US"/>
              <a:t>Click to edit Master title style</a:t>
            </a:r>
            <a:endParaRPr lang="en-US" dirty="0"/>
          </a:p>
        </p:txBody>
      </p:sp>
      <p:sp>
        <p:nvSpPr>
          <p:cNvPr id="3" name="Text Placeholder 2"/>
          <p:cNvSpPr>
            <a:spLocks noGrp="1"/>
          </p:cNvSpPr>
          <p:nvPr>
            <p:ph type="body" idx="1"/>
          </p:nvPr>
        </p:nvSpPr>
        <p:spPr>
          <a:xfrm>
            <a:off x="1497331" y="22029429"/>
            <a:ext cx="18928080" cy="7200898"/>
          </a:xfrm>
        </p:spPr>
        <p:txBody>
          <a:bodyPr/>
          <a:lstStyle>
            <a:lvl1pPr marL="0" indent="0">
              <a:buNone/>
              <a:defRPr sz="5760">
                <a:solidFill>
                  <a:schemeClr val="tx1"/>
                </a:solidFill>
              </a:defRPr>
            </a:lvl1pPr>
            <a:lvl2pPr marL="1097280" indent="0">
              <a:buNone/>
              <a:defRPr sz="4800">
                <a:solidFill>
                  <a:schemeClr val="tx1">
                    <a:tint val="75000"/>
                  </a:schemeClr>
                </a:solidFill>
              </a:defRPr>
            </a:lvl2pPr>
            <a:lvl3pPr marL="2194560" indent="0">
              <a:buNone/>
              <a:defRPr sz="4320">
                <a:solidFill>
                  <a:schemeClr val="tx1">
                    <a:tint val="75000"/>
                  </a:schemeClr>
                </a:solidFill>
              </a:defRPr>
            </a:lvl3pPr>
            <a:lvl4pPr marL="3291840" indent="0">
              <a:buNone/>
              <a:defRPr sz="3840">
                <a:solidFill>
                  <a:schemeClr val="tx1">
                    <a:tint val="75000"/>
                  </a:schemeClr>
                </a:solidFill>
              </a:defRPr>
            </a:lvl4pPr>
            <a:lvl5pPr marL="4389120" indent="0">
              <a:buNone/>
              <a:defRPr sz="3840">
                <a:solidFill>
                  <a:schemeClr val="tx1">
                    <a:tint val="75000"/>
                  </a:schemeClr>
                </a:solidFill>
              </a:defRPr>
            </a:lvl5pPr>
            <a:lvl6pPr marL="5486400" indent="0">
              <a:buNone/>
              <a:defRPr sz="3840">
                <a:solidFill>
                  <a:schemeClr val="tx1">
                    <a:tint val="75000"/>
                  </a:schemeClr>
                </a:solidFill>
              </a:defRPr>
            </a:lvl6pPr>
            <a:lvl7pPr marL="6583680" indent="0">
              <a:buNone/>
              <a:defRPr sz="3840">
                <a:solidFill>
                  <a:schemeClr val="tx1">
                    <a:tint val="75000"/>
                  </a:schemeClr>
                </a:solidFill>
              </a:defRPr>
            </a:lvl7pPr>
            <a:lvl8pPr marL="7680960" indent="0">
              <a:buNone/>
              <a:defRPr sz="3840">
                <a:solidFill>
                  <a:schemeClr val="tx1">
                    <a:tint val="75000"/>
                  </a:schemeClr>
                </a:solidFill>
              </a:defRPr>
            </a:lvl8pPr>
            <a:lvl9pPr marL="8778240" indent="0">
              <a:buNone/>
              <a:defRPr sz="38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4C8A3B-F308-473F-A1C4-090B4F222883}"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1D2D75-94A3-47B5-BE18-6EDAF605EBE6}" type="slidenum">
              <a:rPr lang="en-US" smtClean="0"/>
              <a:t>‹#›</a:t>
            </a:fld>
            <a:endParaRPr lang="en-US"/>
          </a:p>
        </p:txBody>
      </p:sp>
    </p:spTree>
    <p:extLst>
      <p:ext uri="{BB962C8B-B14F-4D97-AF65-F5344CB8AC3E}">
        <p14:creationId xmlns:p14="http://schemas.microsoft.com/office/powerpoint/2010/main" val="1511699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087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1099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4C8A3B-F308-473F-A1C4-090B4F222883}"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1D2D75-94A3-47B5-BE18-6EDAF605EBE6}" type="slidenum">
              <a:rPr lang="en-US" smtClean="0"/>
              <a:t>‹#›</a:t>
            </a:fld>
            <a:endParaRPr lang="en-US"/>
          </a:p>
        </p:txBody>
      </p:sp>
    </p:spTree>
    <p:extLst>
      <p:ext uri="{BB962C8B-B14F-4D97-AF65-F5344CB8AC3E}">
        <p14:creationId xmlns:p14="http://schemas.microsoft.com/office/powerpoint/2010/main" val="2298474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1618" y="1752607"/>
            <a:ext cx="1892808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11621" y="8069582"/>
            <a:ext cx="9284016"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4" name="Content Placeholder 3"/>
          <p:cNvSpPr>
            <a:spLocks noGrp="1"/>
          </p:cNvSpPr>
          <p:nvPr>
            <p:ph sz="half" idx="2"/>
          </p:nvPr>
        </p:nvSpPr>
        <p:spPr>
          <a:xfrm>
            <a:off x="1511621" y="12024360"/>
            <a:ext cx="9284016"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109961" y="8069582"/>
            <a:ext cx="9329738"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6" name="Content Placeholder 5"/>
          <p:cNvSpPr>
            <a:spLocks noGrp="1"/>
          </p:cNvSpPr>
          <p:nvPr>
            <p:ph sz="quarter" idx="4"/>
          </p:nvPr>
        </p:nvSpPr>
        <p:spPr>
          <a:xfrm>
            <a:off x="11109961" y="12024360"/>
            <a:ext cx="9329738"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4C8A3B-F308-473F-A1C4-090B4F222883}"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1D2D75-94A3-47B5-BE18-6EDAF605EBE6}" type="slidenum">
              <a:rPr lang="en-US" smtClean="0"/>
              <a:t>‹#›</a:t>
            </a:fld>
            <a:endParaRPr lang="en-US"/>
          </a:p>
        </p:txBody>
      </p:sp>
    </p:spTree>
    <p:extLst>
      <p:ext uri="{BB962C8B-B14F-4D97-AF65-F5344CB8AC3E}">
        <p14:creationId xmlns:p14="http://schemas.microsoft.com/office/powerpoint/2010/main" val="2494000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4C8A3B-F308-473F-A1C4-090B4F222883}"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1D2D75-94A3-47B5-BE18-6EDAF605EBE6}" type="slidenum">
              <a:rPr lang="en-US" smtClean="0"/>
              <a:t>‹#›</a:t>
            </a:fld>
            <a:endParaRPr lang="en-US"/>
          </a:p>
        </p:txBody>
      </p:sp>
    </p:spTree>
    <p:extLst>
      <p:ext uri="{BB962C8B-B14F-4D97-AF65-F5344CB8AC3E}">
        <p14:creationId xmlns:p14="http://schemas.microsoft.com/office/powerpoint/2010/main" val="7357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4C8A3B-F308-473F-A1C4-090B4F222883}"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1D2D75-94A3-47B5-BE18-6EDAF605EBE6}" type="slidenum">
              <a:rPr lang="en-US" smtClean="0"/>
              <a:t>‹#›</a:t>
            </a:fld>
            <a:endParaRPr lang="en-US"/>
          </a:p>
        </p:txBody>
      </p:sp>
    </p:spTree>
    <p:extLst>
      <p:ext uri="{BB962C8B-B14F-4D97-AF65-F5344CB8AC3E}">
        <p14:creationId xmlns:p14="http://schemas.microsoft.com/office/powerpoint/2010/main" val="1330375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endParaRPr lang="en-US" dirty="0"/>
          </a:p>
        </p:txBody>
      </p:sp>
      <p:sp>
        <p:nvSpPr>
          <p:cNvPr id="3" name="Content Placeholder 2"/>
          <p:cNvSpPr>
            <a:spLocks noGrp="1"/>
          </p:cNvSpPr>
          <p:nvPr>
            <p:ph idx="1"/>
          </p:nvPr>
        </p:nvSpPr>
        <p:spPr>
          <a:xfrm>
            <a:off x="9329738" y="4739647"/>
            <a:ext cx="11109960" cy="23393400"/>
          </a:xfrm>
        </p:spPr>
        <p:txBody>
          <a:bodyPr/>
          <a:lstStyle>
            <a:lvl1pPr>
              <a:defRPr sz="7680"/>
            </a:lvl1pPr>
            <a:lvl2pPr>
              <a:defRPr sz="6720"/>
            </a:lvl2pPr>
            <a:lvl3pPr>
              <a:defRPr sz="5760"/>
            </a:lvl3pPr>
            <a:lvl4pPr>
              <a:defRPr sz="4800"/>
            </a:lvl4pPr>
            <a:lvl5pPr>
              <a:defRPr sz="4800"/>
            </a:lvl5pPr>
            <a:lvl6pPr>
              <a:defRPr sz="4800"/>
            </a:lvl6pPr>
            <a:lvl7pPr>
              <a:defRPr sz="4800"/>
            </a:lvl7pPr>
            <a:lvl8pPr>
              <a:defRPr sz="4800"/>
            </a:lvl8pPr>
            <a:lvl9pPr>
              <a:defRPr sz="4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494C8A3B-F308-473F-A1C4-090B4F222883}"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1D2D75-94A3-47B5-BE18-6EDAF605EBE6}" type="slidenum">
              <a:rPr lang="en-US" smtClean="0"/>
              <a:t>‹#›</a:t>
            </a:fld>
            <a:endParaRPr lang="en-US"/>
          </a:p>
        </p:txBody>
      </p:sp>
    </p:spTree>
    <p:extLst>
      <p:ext uri="{BB962C8B-B14F-4D97-AF65-F5344CB8AC3E}">
        <p14:creationId xmlns:p14="http://schemas.microsoft.com/office/powerpoint/2010/main" val="443616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endParaRPr lang="en-US" dirty="0"/>
          </a:p>
        </p:txBody>
      </p:sp>
      <p:sp>
        <p:nvSpPr>
          <p:cNvPr id="3" name="Picture Placeholder 2"/>
          <p:cNvSpPr>
            <a:spLocks noGrp="1" noChangeAspect="1"/>
          </p:cNvSpPr>
          <p:nvPr>
            <p:ph type="pic" idx="1"/>
          </p:nvPr>
        </p:nvSpPr>
        <p:spPr>
          <a:xfrm>
            <a:off x="9329738" y="4739647"/>
            <a:ext cx="11109960" cy="23393400"/>
          </a:xfrm>
        </p:spPr>
        <p:txBody>
          <a:bodyPr anchor="t"/>
          <a:lstStyle>
            <a:lvl1pPr marL="0" indent="0">
              <a:buNone/>
              <a:defRPr sz="7680"/>
            </a:lvl1pPr>
            <a:lvl2pPr marL="1097280" indent="0">
              <a:buNone/>
              <a:defRPr sz="6720"/>
            </a:lvl2pPr>
            <a:lvl3pPr marL="2194560" indent="0">
              <a:buNone/>
              <a:defRPr sz="5760"/>
            </a:lvl3pPr>
            <a:lvl4pPr marL="3291840" indent="0">
              <a:buNone/>
              <a:defRPr sz="4800"/>
            </a:lvl4pPr>
            <a:lvl5pPr marL="4389120" indent="0">
              <a:buNone/>
              <a:defRPr sz="4800"/>
            </a:lvl5pPr>
            <a:lvl6pPr marL="5486400" indent="0">
              <a:buNone/>
              <a:defRPr sz="4800"/>
            </a:lvl6pPr>
            <a:lvl7pPr marL="6583680" indent="0">
              <a:buNone/>
              <a:defRPr sz="4800"/>
            </a:lvl7pPr>
            <a:lvl8pPr marL="7680960" indent="0">
              <a:buNone/>
              <a:defRPr sz="4800"/>
            </a:lvl8pPr>
            <a:lvl9pPr marL="8778240" indent="0">
              <a:buNone/>
              <a:defRPr sz="4800"/>
            </a:lvl9pPr>
          </a:lstStyle>
          <a:p>
            <a:r>
              <a:rPr lang="en-US"/>
              <a:t>Click icon to add picture</a:t>
            </a:r>
            <a:endParaRPr lang="en-US" dirty="0"/>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494C8A3B-F308-473F-A1C4-090B4F222883}"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1D2D75-94A3-47B5-BE18-6EDAF605EBE6}" type="slidenum">
              <a:rPr lang="en-US" smtClean="0"/>
              <a:t>‹#›</a:t>
            </a:fld>
            <a:endParaRPr lang="en-US"/>
          </a:p>
        </p:txBody>
      </p:sp>
    </p:spTree>
    <p:extLst>
      <p:ext uri="{BB962C8B-B14F-4D97-AF65-F5344CB8AC3E}">
        <p14:creationId xmlns:p14="http://schemas.microsoft.com/office/powerpoint/2010/main" val="514607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4C8A3B-F308-473F-A1C4-090B4F222883}"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1D2D75-94A3-47B5-BE18-6EDAF605EBE6}" type="slidenum">
              <a:rPr lang="en-US" smtClean="0"/>
              <a:t>‹#›</a:t>
            </a:fld>
            <a:endParaRPr lang="en-US"/>
          </a:p>
        </p:txBody>
      </p:sp>
    </p:spTree>
    <p:extLst>
      <p:ext uri="{BB962C8B-B14F-4D97-AF65-F5344CB8AC3E}">
        <p14:creationId xmlns:p14="http://schemas.microsoft.com/office/powerpoint/2010/main" val="3992953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04821" y="1752600"/>
            <a:ext cx="473202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08761" y="1752600"/>
            <a:ext cx="1392174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4C8A3B-F308-473F-A1C4-090B4F222883}"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1D2D75-94A3-47B5-BE18-6EDAF605EBE6}" type="slidenum">
              <a:rPr lang="en-US" smtClean="0"/>
              <a:t>‹#›</a:t>
            </a:fld>
            <a:endParaRPr lang="en-US"/>
          </a:p>
        </p:txBody>
      </p:sp>
    </p:spTree>
    <p:extLst>
      <p:ext uri="{BB962C8B-B14F-4D97-AF65-F5344CB8AC3E}">
        <p14:creationId xmlns:p14="http://schemas.microsoft.com/office/powerpoint/2010/main" val="258689890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08760" y="1752607"/>
            <a:ext cx="1892808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08760" y="8763000"/>
            <a:ext cx="1892808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08760" y="30510487"/>
            <a:ext cx="4937760" cy="1752600"/>
          </a:xfrm>
          <a:prstGeom prst="rect">
            <a:avLst/>
          </a:prstGeom>
        </p:spPr>
        <p:txBody>
          <a:bodyPr vert="horz" lIns="91440" tIns="45720" rIns="91440" bIns="45720" rtlCol="0" anchor="ctr"/>
          <a:lstStyle>
            <a:lvl1pPr algn="l">
              <a:defRPr sz="2880">
                <a:solidFill>
                  <a:schemeClr val="tx1">
                    <a:tint val="75000"/>
                  </a:schemeClr>
                </a:solidFill>
              </a:defRPr>
            </a:lvl1pPr>
          </a:lstStyle>
          <a:p>
            <a:fld id="{494C8A3B-F308-473F-A1C4-090B4F222883}" type="datetimeFigureOut">
              <a:rPr lang="en-US" smtClean="0"/>
              <a:t>8/27/2026</a:t>
            </a:fld>
            <a:endParaRPr lang="en-US"/>
          </a:p>
        </p:txBody>
      </p:sp>
      <p:sp>
        <p:nvSpPr>
          <p:cNvPr id="5" name="Footer Placeholder 4"/>
          <p:cNvSpPr>
            <a:spLocks noGrp="1"/>
          </p:cNvSpPr>
          <p:nvPr>
            <p:ph type="ftr" sz="quarter" idx="3"/>
          </p:nvPr>
        </p:nvSpPr>
        <p:spPr>
          <a:xfrm>
            <a:off x="7269480" y="30510487"/>
            <a:ext cx="7406640" cy="1752600"/>
          </a:xfrm>
          <a:prstGeom prst="rect">
            <a:avLst/>
          </a:prstGeom>
        </p:spPr>
        <p:txBody>
          <a:bodyPr vert="horz" lIns="91440" tIns="45720" rIns="91440" bIns="45720" rtlCol="0" anchor="ctr"/>
          <a:lstStyle>
            <a:lvl1pPr algn="ctr">
              <a:defRPr sz="28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499080" y="30510487"/>
            <a:ext cx="4937760" cy="1752600"/>
          </a:xfrm>
          <a:prstGeom prst="rect">
            <a:avLst/>
          </a:prstGeom>
        </p:spPr>
        <p:txBody>
          <a:bodyPr vert="horz" lIns="91440" tIns="45720" rIns="91440" bIns="45720" rtlCol="0" anchor="ctr"/>
          <a:lstStyle>
            <a:lvl1pPr algn="r">
              <a:defRPr sz="2880">
                <a:solidFill>
                  <a:schemeClr val="tx1">
                    <a:tint val="75000"/>
                  </a:schemeClr>
                </a:solidFill>
              </a:defRPr>
            </a:lvl1pPr>
          </a:lstStyle>
          <a:p>
            <a:fld id="{291D2D75-94A3-47B5-BE18-6EDAF605EBE6}" type="slidenum">
              <a:rPr lang="en-US" smtClean="0"/>
              <a:t>‹#›</a:t>
            </a:fld>
            <a:endParaRPr lang="en-US"/>
          </a:p>
        </p:txBody>
      </p:sp>
    </p:spTree>
    <p:extLst>
      <p:ext uri="{BB962C8B-B14F-4D97-AF65-F5344CB8AC3E}">
        <p14:creationId xmlns:p14="http://schemas.microsoft.com/office/powerpoint/2010/main" val="109238762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2194560" rtl="0" eaLnBrk="1" latinLnBrk="0" hangingPunct="1">
        <a:lnSpc>
          <a:spcPct val="90000"/>
        </a:lnSpc>
        <a:spcBef>
          <a:spcPct val="0"/>
        </a:spcBef>
        <a:buNone/>
        <a:defRPr sz="10560" kern="1200">
          <a:solidFill>
            <a:schemeClr val="tx1"/>
          </a:solidFill>
          <a:latin typeface="+mj-lt"/>
          <a:ea typeface="+mj-ea"/>
          <a:cs typeface="+mj-cs"/>
        </a:defRPr>
      </a:lvl1pPr>
    </p:titleStyle>
    <p:bodyStyle>
      <a:lvl1pPr marL="548640" indent="-548640" algn="l" defTabSz="2194560" rtl="0" eaLnBrk="1" latinLnBrk="0" hangingPunct="1">
        <a:lnSpc>
          <a:spcPct val="90000"/>
        </a:lnSpc>
        <a:spcBef>
          <a:spcPts val="2400"/>
        </a:spcBef>
        <a:buFont typeface="Arial" panose="020B0604020202020204" pitchFamily="34" charset="0"/>
        <a:buChar char="•"/>
        <a:defRPr sz="672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576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560" rtl="0" eaLnBrk="1" latinLnBrk="0" hangingPunct="1">
        <a:defRPr sz="4320" kern="1200">
          <a:solidFill>
            <a:schemeClr val="tx1"/>
          </a:solidFill>
          <a:latin typeface="+mn-lt"/>
          <a:ea typeface="+mn-ea"/>
          <a:cs typeface="+mn-cs"/>
        </a:defRPr>
      </a:lvl1pPr>
      <a:lvl2pPr marL="1097280" algn="l" defTabSz="2194560" rtl="0" eaLnBrk="1" latinLnBrk="0" hangingPunct="1">
        <a:defRPr sz="4320" kern="1200">
          <a:solidFill>
            <a:schemeClr val="tx1"/>
          </a:solidFill>
          <a:latin typeface="+mn-lt"/>
          <a:ea typeface="+mn-ea"/>
          <a:cs typeface="+mn-cs"/>
        </a:defRPr>
      </a:lvl2pPr>
      <a:lvl3pPr marL="2194560" algn="l" defTabSz="2194560" rtl="0" eaLnBrk="1" latinLnBrk="0" hangingPunct="1">
        <a:defRPr sz="4320" kern="1200">
          <a:solidFill>
            <a:schemeClr val="tx1"/>
          </a:solidFill>
          <a:latin typeface="+mn-lt"/>
          <a:ea typeface="+mn-ea"/>
          <a:cs typeface="+mn-cs"/>
        </a:defRPr>
      </a:lvl3pPr>
      <a:lvl4pPr marL="3291840" algn="l" defTabSz="2194560" rtl="0" eaLnBrk="1" latinLnBrk="0" hangingPunct="1">
        <a:defRPr sz="4320" kern="1200">
          <a:solidFill>
            <a:schemeClr val="tx1"/>
          </a:solidFill>
          <a:latin typeface="+mn-lt"/>
          <a:ea typeface="+mn-ea"/>
          <a:cs typeface="+mn-cs"/>
        </a:defRPr>
      </a:lvl4pPr>
      <a:lvl5pPr marL="4389120" algn="l" defTabSz="2194560" rtl="0" eaLnBrk="1" latinLnBrk="0" hangingPunct="1">
        <a:defRPr sz="4320" kern="1200">
          <a:solidFill>
            <a:schemeClr val="tx1"/>
          </a:solidFill>
          <a:latin typeface="+mn-lt"/>
          <a:ea typeface="+mn-ea"/>
          <a:cs typeface="+mn-cs"/>
        </a:defRPr>
      </a:lvl5pPr>
      <a:lvl6pPr marL="5486400" algn="l" defTabSz="2194560" rtl="0" eaLnBrk="1" latinLnBrk="0" hangingPunct="1">
        <a:defRPr sz="4320" kern="1200">
          <a:solidFill>
            <a:schemeClr val="tx1"/>
          </a:solidFill>
          <a:latin typeface="+mn-lt"/>
          <a:ea typeface="+mn-ea"/>
          <a:cs typeface="+mn-cs"/>
        </a:defRPr>
      </a:lvl6pPr>
      <a:lvl7pPr marL="6583680" algn="l" defTabSz="2194560" rtl="0" eaLnBrk="1" latinLnBrk="0" hangingPunct="1">
        <a:defRPr sz="4320" kern="1200">
          <a:solidFill>
            <a:schemeClr val="tx1"/>
          </a:solidFill>
          <a:latin typeface="+mn-lt"/>
          <a:ea typeface="+mn-ea"/>
          <a:cs typeface="+mn-cs"/>
        </a:defRPr>
      </a:lvl7pPr>
      <a:lvl8pPr marL="7680960" algn="l" defTabSz="2194560" rtl="0" eaLnBrk="1" latinLnBrk="0" hangingPunct="1">
        <a:defRPr sz="4320" kern="1200">
          <a:solidFill>
            <a:schemeClr val="tx1"/>
          </a:solidFill>
          <a:latin typeface="+mn-lt"/>
          <a:ea typeface="+mn-ea"/>
          <a:cs typeface="+mn-cs"/>
        </a:defRPr>
      </a:lvl8pPr>
      <a:lvl9pPr marL="8778240" algn="l" defTabSz="2194560" rtl="0" eaLnBrk="1" latinLnBrk="0" hangingPunct="1">
        <a:defRPr sz="43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emf"/><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2F0D9"/>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3DF3914-160B-4294-A01A-8CB9C6320C14}"/>
              </a:ext>
            </a:extLst>
          </p:cNvPr>
          <p:cNvSpPr/>
          <p:nvPr/>
        </p:nvSpPr>
        <p:spPr>
          <a:xfrm>
            <a:off x="0" y="0"/>
            <a:ext cx="21945600" cy="2992582"/>
          </a:xfrm>
          <a:prstGeom prst="rect">
            <a:avLst/>
          </a:prstGeom>
          <a:gradFill flip="none" rotWithShape="1">
            <a:gsLst>
              <a:gs pos="0">
                <a:srgbClr val="007C3F">
                  <a:shade val="30000"/>
                  <a:satMod val="115000"/>
                </a:srgbClr>
              </a:gs>
              <a:gs pos="50000">
                <a:srgbClr val="007C3F">
                  <a:shade val="67500"/>
                  <a:satMod val="115000"/>
                </a:srgbClr>
              </a:gs>
              <a:gs pos="100000">
                <a:srgbClr val="007C3F">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2" dirty="0"/>
          </a:p>
        </p:txBody>
      </p:sp>
      <p:pic>
        <p:nvPicPr>
          <p:cNvPr id="3" name="Picture 2">
            <a:extLst>
              <a:ext uri="{FF2B5EF4-FFF2-40B4-BE49-F238E27FC236}">
                <a16:creationId xmlns:a16="http://schemas.microsoft.com/office/drawing/2014/main" id="{45A4D62C-A0AF-1588-FBCB-9DDB258E4DCE}"/>
              </a:ext>
            </a:extLst>
          </p:cNvPr>
          <p:cNvPicPr>
            <a:picLocks noChangeAspect="1"/>
          </p:cNvPicPr>
          <p:nvPr/>
        </p:nvPicPr>
        <p:blipFill>
          <a:blip r:embed="rId2">
            <a:extLst>
              <a:ext uri="{28A0092B-C50C-407E-A947-70E740481C1C}">
                <a14:useLocalDpi xmlns:a14="http://schemas.microsoft.com/office/drawing/2010/main" val="0"/>
              </a:ext>
            </a:extLst>
          </a:blip>
          <a:srcRect l="11131" t="24840" r="21220" b="28651"/>
          <a:stretch>
            <a:fillRect/>
          </a:stretch>
        </p:blipFill>
        <p:spPr>
          <a:xfrm>
            <a:off x="17649372" y="139204"/>
            <a:ext cx="3643086" cy="2504624"/>
          </a:xfrm>
          <a:prstGeom prst="rect">
            <a:avLst/>
          </a:prstGeom>
        </p:spPr>
      </p:pic>
      <p:sp>
        <p:nvSpPr>
          <p:cNvPr id="5" name="TextBox 4">
            <a:extLst>
              <a:ext uri="{FF2B5EF4-FFF2-40B4-BE49-F238E27FC236}">
                <a16:creationId xmlns:a16="http://schemas.microsoft.com/office/drawing/2014/main" id="{2463AD17-9174-F810-F5B9-7772E0A9FDBB}"/>
              </a:ext>
            </a:extLst>
          </p:cNvPr>
          <p:cNvSpPr txBox="1"/>
          <p:nvPr/>
        </p:nvSpPr>
        <p:spPr>
          <a:xfrm>
            <a:off x="476250" y="397334"/>
            <a:ext cx="16824960" cy="2051844"/>
          </a:xfrm>
          <a:prstGeom prst="rect">
            <a:avLst/>
          </a:prstGeom>
          <a:noFill/>
        </p:spPr>
        <p:txBody>
          <a:bodyPr wrap="square">
            <a:spAutoFit/>
          </a:bodyPr>
          <a:lstStyle/>
          <a:p>
            <a:pPr marL="12700" marR="0">
              <a:lnSpc>
                <a:spcPct val="100000"/>
              </a:lnSpc>
              <a:buNone/>
            </a:pPr>
            <a:r>
              <a:rPr lang="en-US" sz="4400" b="1" dirty="0">
                <a:solidFill>
                  <a:schemeClr val="bg1"/>
                </a:solidFill>
                <a:effectLst/>
                <a:latin typeface="+mn-lt"/>
                <a:ea typeface="Arial" panose="020B0604020202020204" pitchFamily="34" charset="0"/>
              </a:rPr>
              <a:t>Robustness or Weighting? Re-Evaluating Federated Aggregation on Heterogeneous Health Data</a:t>
            </a:r>
            <a:endParaRPr lang="en-US" sz="6000" dirty="0">
              <a:solidFill>
                <a:schemeClr val="bg1"/>
              </a:solidFill>
              <a:effectLst/>
              <a:latin typeface="+mn-lt"/>
              <a:ea typeface="Arial" panose="020B0604020202020204" pitchFamily="34" charset="0"/>
            </a:endParaRPr>
          </a:p>
          <a:p>
            <a:pPr marL="12700" marR="0">
              <a:spcBef>
                <a:spcPts val="75"/>
              </a:spcBef>
              <a:buNone/>
            </a:pPr>
            <a:r>
              <a:rPr lang="en-US" sz="3000" b="1" dirty="0">
                <a:solidFill>
                  <a:schemeClr val="bg1"/>
                </a:solidFill>
                <a:effectLst/>
                <a:latin typeface="+mn-lt"/>
                <a:ea typeface="Arial" panose="020B0604020202020204" pitchFamily="34" charset="0"/>
              </a:rPr>
              <a:t>Kunal Chevuri and Dr. Mohammed Aledhari</a:t>
            </a:r>
            <a:endParaRPr lang="en-US" sz="3200" dirty="0">
              <a:solidFill>
                <a:schemeClr val="bg1"/>
              </a:solidFill>
              <a:effectLst/>
              <a:latin typeface="+mn-lt"/>
              <a:ea typeface="Arial" panose="020B0604020202020204" pitchFamily="34" charset="0"/>
            </a:endParaRPr>
          </a:p>
          <a:p>
            <a:pPr marL="12700" marR="0">
              <a:spcBef>
                <a:spcPts val="260"/>
              </a:spcBef>
              <a:buNone/>
            </a:pPr>
            <a:r>
              <a:rPr lang="en-US" sz="3000" b="1" dirty="0">
                <a:solidFill>
                  <a:schemeClr val="bg1"/>
                </a:solidFill>
                <a:effectLst/>
                <a:latin typeface="+mn-lt"/>
                <a:ea typeface="Arial" panose="020B0604020202020204" pitchFamily="34" charset="0"/>
              </a:rPr>
              <a:t>University of North Texas</a:t>
            </a:r>
            <a:endParaRPr lang="en-US" dirty="0">
              <a:solidFill>
                <a:schemeClr val="bg1"/>
              </a:solidFill>
              <a:effectLst/>
              <a:latin typeface="Arial" panose="020B0604020202020204" pitchFamily="34" charset="0"/>
              <a:ea typeface="Arial" panose="020B0604020202020204" pitchFamily="34" charset="0"/>
            </a:endParaRPr>
          </a:p>
        </p:txBody>
      </p:sp>
      <p:sp>
        <p:nvSpPr>
          <p:cNvPr id="8" name="TextBox 7">
            <a:extLst>
              <a:ext uri="{FF2B5EF4-FFF2-40B4-BE49-F238E27FC236}">
                <a16:creationId xmlns:a16="http://schemas.microsoft.com/office/drawing/2014/main" id="{4533CE1C-5C1C-6FDC-69EB-B1D10413549D}"/>
              </a:ext>
            </a:extLst>
          </p:cNvPr>
          <p:cNvSpPr txBox="1"/>
          <p:nvPr/>
        </p:nvSpPr>
        <p:spPr>
          <a:xfrm>
            <a:off x="7276192" y="4572000"/>
            <a:ext cx="6766560" cy="2436564"/>
          </a:xfrm>
          <a:prstGeom prst="rect">
            <a:avLst/>
          </a:prstGeom>
          <a:noFill/>
        </p:spPr>
        <p:txBody>
          <a:bodyPr wrap="square">
            <a:spAutoFit/>
          </a:bodyPr>
          <a:lstStyle/>
          <a:p>
            <a:pPr marL="285750" marR="0">
              <a:spcBef>
                <a:spcPts val="545"/>
              </a:spcBef>
              <a:spcAft>
                <a:spcPts val="400"/>
              </a:spcAft>
              <a:buNone/>
            </a:pPr>
            <a:r>
              <a:rPr lang="en-US" sz="2400" b="1" kern="0" spc="-10" dirty="0">
                <a:solidFill>
                  <a:srgbClr val="007439"/>
                </a:solidFill>
                <a:effectLst/>
                <a:latin typeface="+mn-lt"/>
                <a:ea typeface="Times New Roman" panose="02020603050405020304" pitchFamily="18" charset="0"/>
                <a:cs typeface="Times New Roman" panose="02020603050405020304" pitchFamily="18" charset="0"/>
              </a:rPr>
              <a:t>RESULTS</a:t>
            </a:r>
            <a:endParaRPr lang="en-US" sz="2400" b="1" kern="0" dirty="0">
              <a:solidFill>
                <a:srgbClr val="007439"/>
              </a:solidFill>
              <a:effectLst/>
              <a:latin typeface="+mn-lt"/>
              <a:ea typeface="Times New Roman" panose="02020603050405020304" pitchFamily="18" charset="0"/>
              <a:cs typeface="Times New Roman" panose="02020603050405020304" pitchFamily="18" charset="0"/>
            </a:endParaRPr>
          </a:p>
          <a:p>
            <a:pPr marL="285750" marR="0">
              <a:lnSpc>
                <a:spcPct val="100000"/>
              </a:lnSpc>
              <a:spcBef>
                <a:spcPts val="0"/>
              </a:spcBef>
              <a:spcAft>
                <a:spcPts val="1400"/>
              </a:spcAft>
              <a:buNone/>
            </a:pPr>
            <a:r>
              <a:rPr lang="en-US" sz="2400" dirty="0" err="1">
                <a:solidFill>
                  <a:schemeClr val="tx1"/>
                </a:solidFill>
                <a:effectLst/>
                <a:latin typeface="+mn-lt"/>
                <a:ea typeface="Arial" panose="020B0604020202020204" pitchFamily="34" charset="0"/>
              </a:rPr>
              <a:t>Every rule below is scored against the unweighted-mean control, not against FedAvg alone. Figures show BRFSS at the harshest split (alpha = 0.1) unless the panel says otherwise.</a:t>
            </a:r>
            <a:endParaRPr lang="en-US" sz="1400" dirty="0">
              <a:effectLst/>
              <a:latin typeface="Arial" panose="020B0604020202020204" pitchFamily="34" charset="0"/>
              <a:ea typeface="Arial" panose="020B0604020202020204" pitchFamily="34" charset="0"/>
            </a:endParaRPr>
          </a:p>
          <a:p>
            <a:pPr marL="285750" marR="0">
              <a:lnSpc>
                <a:spcPct val="100000"/>
              </a:lnSpc>
              <a:spcBef>
                <a:spcPts val="0"/>
              </a:spcBef>
              <a:spcAft>
                <a:spcPts val="1400"/>
              </a:spcAft>
              <a:buNone/>
            </a:pPr>
            <a:r>
              <a:rPr lang="en-US" sz="2400" dirty="0" err="1" b="1">
                <a:solidFill>
                  <a:schemeClr val="tx1"/>
                </a:solidFill>
                <a:effectLst/>
                <a:latin typeface="+mn-lt"/>
                <a:ea typeface="Arial" panose="020B0604020202020204" pitchFamily="34" charset="0"/>
              </a:rPr>
              <a:t xml:space="preserve">Reading the charts.</a:t>
            </a:r>
            <a:r>
              <a:rPr lang="en-US" sz="2400" dirty="0" err="1" b="0">
                <a:solidFill>
                  <a:schemeClr val="tx1"/>
                </a:solidFill>
                <a:effectLst/>
                <a:latin typeface="+mn-lt"/>
                <a:ea typeface="Arial" panose="020B0604020202020204" pitchFamily="34" charset="0"/>
              </a:rPr>
              <a:t xml:space="preserve">  AUC-ROC measures how well the model tells apart people who have depression from people who do not. 0.5 is a coin flip, 1.0 is perfect.</a:t>
            </a:r>
            <a:endParaRPr lang="en-US" sz="1400" dirty="0">
              <a:effectLst/>
              <a:latin typeface="Arial" panose="020B0604020202020204" pitchFamily="34" charset="0"/>
              <a:ea typeface="Arial" panose="020B0604020202020204" pitchFamily="34" charset="0"/>
            </a:endParaRPr>
          </a:p>
        </p:txBody>
      </p:sp>
      <p:sp>
        <p:nvSpPr>
          <p:cNvPr id="11" name="TextBox 10">
            <a:extLst>
              <a:ext uri="{FF2B5EF4-FFF2-40B4-BE49-F238E27FC236}">
                <a16:creationId xmlns:a16="http://schemas.microsoft.com/office/drawing/2014/main" id="{19B0CD20-22B3-ABCD-BFE6-40F1E26A6196}"/>
              </a:ext>
            </a:extLst>
          </p:cNvPr>
          <p:cNvSpPr txBox="1"/>
          <p:nvPr/>
        </p:nvSpPr>
        <p:spPr>
          <a:xfrm>
            <a:off x="476250" y="4572000"/>
            <a:ext cx="6037944" cy="3840480"/>
          </a:xfrm>
          <a:prstGeom prst="rect">
            <a:avLst/>
          </a:prstGeom>
          <a:noFill/>
        </p:spPr>
        <p:txBody>
          <a:bodyPr wrap="square">
            <a:spAutoFit/>
          </a:bodyPr>
          <a:lstStyle/>
          <a:p>
            <a:pPr marL="285750" marR="0">
              <a:spcBef>
                <a:spcPts val="545"/>
              </a:spcBef>
              <a:spcAft>
                <a:spcPts val="400"/>
              </a:spcAft>
              <a:buNone/>
            </a:pPr>
            <a:r>
              <a:rPr lang="en-US" sz="2400" b="1" kern="0" spc="-10" dirty="0">
                <a:solidFill>
                  <a:srgbClr val="007439"/>
                </a:solidFill>
                <a:effectLst/>
                <a:latin typeface="+mn-lt"/>
                <a:ea typeface="Times New Roman" panose="02020603050405020304" pitchFamily="18" charset="0"/>
                <a:cs typeface="Times New Roman" panose="02020603050405020304" pitchFamily="18" charset="0"/>
              </a:rPr>
              <a:t>INTRODUCTION</a:t>
            </a:r>
            <a:endParaRPr lang="en-US" sz="2400" b="1" kern="0" dirty="0">
              <a:solidFill>
                <a:srgbClr val="007439"/>
              </a:solidFill>
              <a:effectLst/>
              <a:latin typeface="+mn-lt"/>
              <a:ea typeface="Times New Roman" panose="02020603050405020304" pitchFamily="18" charset="0"/>
              <a:cs typeface="Times New Roman" panose="02020603050405020304" pitchFamily="18" charset="0"/>
            </a:endParaRPr>
          </a:p>
          <a:p>
            <a:pPr marL="285750" marR="0">
              <a:lnSpc>
                <a:spcPct val="100000"/>
              </a:lnSpc>
              <a:spcBef>
                <a:spcPts val="0"/>
              </a:spcBef>
              <a:spcAft>
                <a:spcPts val="1400"/>
              </a:spcAft>
              <a:buNone/>
            </a:pPr>
            <a:r>
              <a:rPr lang="en-US" sz="2400" dirty="0" err="1">
                <a:solidFill>
                  <a:schemeClr val="tx1"/>
                </a:solidFill>
                <a:effectLst/>
                <a:latin typeface="+mn-lt"/>
                <a:ea typeface="Arial" panose="020B0604020202020204" pitchFamily="34" charset="0"/>
              </a:rPr>
              <a:t>Hospitals, clinics and health agencies each hold records that could sharpen how we predict disease. Privacy law keeps them from pooling those records in one place.</a:t>
            </a:r>
            <a:endParaRPr lang="en-US" sz="1400" dirty="0">
              <a:effectLst/>
              <a:latin typeface="Arial" panose="020B0604020202020204" pitchFamily="34" charset="0"/>
              <a:ea typeface="Arial" panose="020B0604020202020204" pitchFamily="34" charset="0"/>
            </a:endParaRPr>
          </a:p>
          <a:p>
            <a:pPr marL="285750" marR="0">
              <a:lnSpc>
                <a:spcPct val="100000"/>
              </a:lnSpc>
              <a:spcBef>
                <a:spcPts val="0"/>
              </a:spcBef>
              <a:spcAft>
                <a:spcPts val="1400"/>
              </a:spcAft>
              <a:buNone/>
            </a:pPr>
            <a:r>
              <a:rPr lang="en-US" sz="2400" dirty="0" err="1">
                <a:solidFill>
                  <a:schemeClr val="tx1"/>
                </a:solidFill>
                <a:effectLst/>
                <a:latin typeface="+mn-lt"/>
                <a:ea typeface="Arial" panose="020B0604020202020204" pitchFamily="34" charset="0"/>
              </a:rPr>
              <a:t>Federated learning is the workaround, sketched below. The merge step is the real design decision, because real sites are lopsided and self-reported health data arrives with errors.</a:t>
            </a:r>
            <a:endParaRPr lang="en-US" sz="1400" dirty="0">
              <a:effectLst/>
              <a:latin typeface="Arial" panose="020B0604020202020204" pitchFamily="34" charset="0"/>
              <a:ea typeface="Arial" panose="020B0604020202020204" pitchFamily="34" charset="0"/>
            </a:endParaRPr>
          </a:p>
        </p:txBody>
      </p:sp>
      <p:sp>
        <p:nvSpPr>
          <p:cNvPr id="13" name="TextBox 12">
            <a:extLst>
              <a:ext uri="{FF2B5EF4-FFF2-40B4-BE49-F238E27FC236}">
                <a16:creationId xmlns:a16="http://schemas.microsoft.com/office/drawing/2014/main" id="{E5F4D14D-1AA2-22EE-152A-DA045E782511}"/>
              </a:ext>
            </a:extLst>
          </p:cNvPr>
          <p:cNvSpPr txBox="1"/>
          <p:nvPr/>
        </p:nvSpPr>
        <p:spPr>
          <a:xfrm>
            <a:off x="476250" y="11704320"/>
            <a:ext cx="6037944" cy="2436564"/>
          </a:xfrm>
          <a:prstGeom prst="rect">
            <a:avLst/>
          </a:prstGeom>
          <a:noFill/>
        </p:spPr>
        <p:txBody>
          <a:bodyPr wrap="square">
            <a:spAutoFit/>
          </a:bodyPr>
          <a:lstStyle/>
          <a:p>
            <a:pPr marL="285750" marR="0">
              <a:spcBef>
                <a:spcPts val="545"/>
              </a:spcBef>
              <a:spcAft>
                <a:spcPts val="400"/>
              </a:spcAft>
              <a:buNone/>
            </a:pPr>
            <a:r>
              <a:rPr lang="en-US" sz="2400" b="1" kern="0" spc="-10" dirty="0">
                <a:solidFill>
                  <a:srgbClr val="007439"/>
                </a:solidFill>
                <a:effectLst/>
                <a:latin typeface="+mn-lt"/>
                <a:ea typeface="Times New Roman" panose="02020603050405020304" pitchFamily="18" charset="0"/>
                <a:cs typeface="Times New Roman" panose="02020603050405020304" pitchFamily="18" charset="0"/>
              </a:rPr>
              <a:t>PURPOSE</a:t>
            </a:r>
            <a:endParaRPr lang="en-US" sz="2400" b="1" kern="0" dirty="0">
              <a:solidFill>
                <a:srgbClr val="007439"/>
              </a:solidFill>
              <a:effectLst/>
              <a:latin typeface="+mn-lt"/>
              <a:ea typeface="Times New Roman" panose="02020603050405020304" pitchFamily="18" charset="0"/>
              <a:cs typeface="Times New Roman" panose="02020603050405020304" pitchFamily="18" charset="0"/>
            </a:endParaRPr>
          </a:p>
          <a:p>
            <a:pPr marL="285750" marR="0">
              <a:lnSpc>
                <a:spcPct val="100000"/>
              </a:lnSpc>
              <a:spcBef>
                <a:spcPts val="0"/>
              </a:spcBef>
              <a:spcAft>
                <a:spcPts val="1400"/>
              </a:spcAft>
              <a:buNone/>
            </a:pPr>
            <a:r>
              <a:rPr lang="en-US" sz="2400" dirty="0" err="1">
                <a:solidFill>
                  <a:schemeClr val="tx1"/>
                </a:solidFill>
                <a:effectLst/>
                <a:latin typeface="+mn-lt"/>
                <a:ea typeface="Arial" panose="020B0604020202020204" pitchFamily="34" charset="0"/>
              </a:rPr>
              <a:t>Robust merge rules are always scored against FedAvg, which weights each site by how many records it holds. In effect the biggest site gets the loudest vote. Robust rules drop that weighting entirely, so two things change at once.</a:t>
            </a:r>
            <a:endParaRPr lang="en-US" sz="1400" dirty="0">
              <a:effectLst/>
              <a:latin typeface="Arial" panose="020B0604020202020204" pitchFamily="34" charset="0"/>
              <a:ea typeface="Arial" panose="020B0604020202020204" pitchFamily="34" charset="0"/>
            </a:endParaRPr>
          </a:p>
          <a:p>
            <a:pPr marL="285750" marR="0">
              <a:lnSpc>
                <a:spcPct val="100000"/>
              </a:lnSpc>
              <a:spcBef>
                <a:spcPts val="0"/>
              </a:spcBef>
              <a:spcAft>
                <a:spcPts val="1400"/>
              </a:spcAft>
              <a:buNone/>
            </a:pPr>
            <a:r>
              <a:rPr lang="en-US" sz="2400" dirty="0" err="1" b="1">
                <a:solidFill>
                  <a:schemeClr val="tx1"/>
                </a:solidFill>
                <a:effectLst/>
                <a:latin typeface="+mn-lt"/>
                <a:ea typeface="Arial" panose="020B0604020202020204" pitchFamily="34" charset="0"/>
              </a:rPr>
              <a:t xml:space="preserve">The question.</a:t>
            </a:r>
            <a:r>
              <a:rPr lang="en-US" sz="2400" dirty="0" err="1" b="0">
                <a:solidFill>
                  <a:schemeClr val="tx1"/>
                </a:solidFill>
                <a:effectLst/>
                <a:latin typeface="+mn-lt"/>
                <a:ea typeface="Arial" panose="020B0604020202020204" pitchFamily="34" charset="0"/>
              </a:rPr>
              <a:t xml:space="preserve">  When a robust rule wins, is it the robust statistic winning, or just the end of the loudest vote?</a:t>
            </a:r>
            <a:endParaRPr lang="en-US" sz="1400" dirty="0">
              <a:effectLst/>
              <a:latin typeface="Arial" panose="020B0604020202020204" pitchFamily="34" charset="0"/>
              <a:ea typeface="Arial" panose="020B0604020202020204" pitchFamily="34" charset="0"/>
            </a:endParaRPr>
          </a:p>
        </p:txBody>
      </p:sp>
      <p:sp>
        <p:nvSpPr>
          <p:cNvPr id="15" name="TextBox 14">
            <a:extLst>
              <a:ext uri="{FF2B5EF4-FFF2-40B4-BE49-F238E27FC236}">
                <a16:creationId xmlns:a16="http://schemas.microsoft.com/office/drawing/2014/main" id="{D46CAF31-D57E-C647-7FD1-0D8FF812F8E9}"/>
              </a:ext>
            </a:extLst>
          </p:cNvPr>
          <p:cNvSpPr txBox="1"/>
          <p:nvPr/>
        </p:nvSpPr>
        <p:spPr>
          <a:xfrm>
            <a:off x="476250" y="16184880"/>
            <a:ext cx="6037944" cy="22811373"/>
          </a:xfrm>
          <a:prstGeom prst="rect">
            <a:avLst/>
          </a:prstGeom>
          <a:noFill/>
        </p:spPr>
        <p:txBody>
          <a:bodyPr wrap="square">
            <a:spAutoFit/>
          </a:bodyPr>
          <a:lstStyle/>
          <a:p>
            <a:pPr marL="285750" marR="0">
              <a:spcBef>
                <a:spcPts val="545"/>
              </a:spcBef>
              <a:spcAft>
                <a:spcPts val="400"/>
              </a:spcAft>
              <a:buNone/>
            </a:pPr>
            <a:r>
              <a:rPr lang="en-US" sz="2400" b="1" kern="0" spc="-10" dirty="0">
                <a:solidFill>
                  <a:srgbClr val="007439"/>
                </a:solidFill>
                <a:effectLst/>
                <a:latin typeface="+mn-lt"/>
                <a:ea typeface="Times New Roman" panose="02020603050405020304" pitchFamily="18" charset="0"/>
                <a:cs typeface="Times New Roman" panose="02020603050405020304" pitchFamily="18" charset="0"/>
              </a:rPr>
              <a:t>METHODS</a:t>
            </a:r>
            <a:endParaRPr lang="en-US" sz="2400" b="1" kern="0" dirty="0">
              <a:solidFill>
                <a:srgbClr val="007439"/>
              </a:solidFill>
              <a:effectLst/>
              <a:latin typeface="+mn-lt"/>
              <a:ea typeface="Times New Roman" panose="02020603050405020304" pitchFamily="18" charset="0"/>
              <a:cs typeface="Times New Roman" panose="02020603050405020304" pitchFamily="18" charset="0"/>
            </a:endParaRP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Seven merge rules, head to head.</a:t>
            </a:r>
            <a:r>
              <a:rPr lang="en-US" sz="2400" dirty="0" err="1" b="0">
                <a:solidFill>
                  <a:schemeClr val="tx1"/>
                </a:solidFill>
                <a:effectLst/>
                <a:latin typeface="+mn-lt"/>
                <a:ea typeface="Arial" panose="020B0604020202020204" pitchFamily="34" charset="0"/>
              </a:rPr>
              <a:t xml:space="preserve">  FedAvg, FedProx, CS-Agg, Krum, trimmed mean, coordinate-wise median, and an unweighted mean we added ourselves as a control.</a:t>
            </a: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The control is the experiment.</a:t>
            </a:r>
            <a:r>
              <a:rPr lang="en-US" sz="2400" dirty="0" err="1" b="0">
                <a:solidFill>
                  <a:schemeClr val="tx1"/>
                </a:solidFill>
                <a:effectLst/>
                <a:latin typeface="+mn-lt"/>
                <a:ea typeface="Arial" panose="020B0604020202020204" pitchFamily="34" charset="0"/>
              </a:rPr>
              <a:t xml:space="preserve">  It uses no robust statistic at all, and differs from FedAvg in one respect: it ignores how much data each site holds. Anything it gains is weighting.</a:t>
            </a: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The data.</a:t>
            </a:r>
            <a:r>
              <a:rPr lang="en-US" sz="2400" dirty="0" err="1" b="0">
                <a:solidFill>
                  <a:schemeClr val="tx1"/>
                </a:solidFill>
                <a:effectLst/>
                <a:latin typeface="+mn-lt"/>
                <a:ea typeface="Arial" panose="020B0604020202020204" pitchFamily="34" charset="0"/>
              </a:rPr>
              <a:t xml:space="preserve">  CDC's 2023 BRFSS survey, 382,709 U.S. adults, predicting self-reported depression, with Breast Cancer Wisconsin alongside as a clean clinical benchmark. The shared model is a small neural network.</a:t>
            </a: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Splitting it up.</a:t>
            </a:r>
            <a:r>
              <a:rPr lang="en-US" sz="2400" dirty="0" err="1" b="0">
                <a:solidFill>
                  <a:schemeClr val="tx1"/>
                </a:solidFill>
                <a:effectLst/>
                <a:latin typeface="+mn-lt"/>
                <a:ea typeface="Arial" panose="020B0604020202020204" pitchFamily="34" charset="0"/>
              </a:rPr>
              <a:t xml:space="preserve">  Each dataset is dealt out to 20 simulated sites, deliberately unevenly. The dial, alpha, sets how lopsided: at alpha = 0.1 one site holds over a third of the data and others hold none.</a:t>
            </a: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Breaking the labels.</a:t>
            </a:r>
            <a:r>
              <a:rPr lang="en-US" sz="2400" dirty="0" err="1" b="0">
                <a:solidFill>
                  <a:schemeClr val="tx1"/>
                </a:solidFill>
                <a:effectLst/>
                <a:latin typeface="+mn-lt"/>
                <a:ea typeface="Arial" panose="020B0604020202020204" pitchFamily="34" charset="0"/>
              </a:rPr>
              <a:t xml:space="preserve">  We flip labels at 20 percent of sites, across 0 to 30 percent of their records, only the way real people get it wrong: reporting no depression when they have it.</a:t>
            </a: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The scale of it.</a:t>
            </a:r>
            <a:r>
              <a:rPr lang="en-US" sz="2400" dirty="0" err="1" b="0">
                <a:solidFill>
                  <a:schemeClr val="tx1"/>
                </a:solidFill>
                <a:effectLst/>
                <a:latin typeface="+mn-lt"/>
                <a:ea typeface="Arial" panose="020B0604020202020204" pitchFamily="34" charset="0"/>
              </a:rPr>
              <a:t xml:space="preserve">  624 conditions covering every rule, dataset, split, noise level and seed. 50 rounds each, scored on a clean held-out test set. Holm-corrected Wilcoxon tests throughout.</a:t>
            </a:r>
          </a:p>
        </p:txBody>
      </p:sp>
      <p:sp>
        <p:nvSpPr>
          <p:cNvPr id="18" name="TextBox 17">
            <a:extLst>
              <a:ext uri="{FF2B5EF4-FFF2-40B4-BE49-F238E27FC236}">
                <a16:creationId xmlns:a16="http://schemas.microsoft.com/office/drawing/2014/main" id="{49650CBE-7A43-B07A-2977-FBEF02B5F718}"/>
              </a:ext>
            </a:extLst>
          </p:cNvPr>
          <p:cNvSpPr txBox="1"/>
          <p:nvPr/>
        </p:nvSpPr>
        <p:spPr>
          <a:xfrm>
            <a:off x="15254514" y="4572000"/>
            <a:ext cx="6037944" cy="12285414"/>
          </a:xfrm>
          <a:prstGeom prst="rect">
            <a:avLst/>
          </a:prstGeom>
          <a:noFill/>
        </p:spPr>
        <p:txBody>
          <a:bodyPr wrap="square">
            <a:spAutoFit/>
          </a:bodyPr>
          <a:lstStyle/>
          <a:p>
            <a:pPr marL="285750" marR="0">
              <a:spcBef>
                <a:spcPts val="545"/>
              </a:spcBef>
              <a:spcAft>
                <a:spcPts val="400"/>
              </a:spcAft>
              <a:buNone/>
            </a:pPr>
            <a:r>
              <a:rPr lang="en-US" sz="2400" b="1" kern="0" spc="-10" dirty="0">
                <a:solidFill>
                  <a:srgbClr val="007439"/>
                </a:solidFill>
                <a:effectLst/>
                <a:latin typeface="+mn-lt"/>
                <a:ea typeface="Times New Roman" panose="02020603050405020304" pitchFamily="18" charset="0"/>
                <a:cs typeface="Times New Roman" panose="02020603050405020304" pitchFamily="18" charset="0"/>
              </a:rPr>
              <a:t>KEY FINDINGS</a:t>
            </a:r>
            <a:endParaRPr lang="en-US" sz="2400" b="1" kern="0" dirty="0">
              <a:solidFill>
                <a:srgbClr val="007439"/>
              </a:solidFill>
              <a:effectLst/>
              <a:latin typeface="+mn-lt"/>
              <a:ea typeface="Times New Roman" panose="02020603050405020304" pitchFamily="18" charset="0"/>
              <a:cs typeface="Times New Roman" panose="02020603050405020304" pitchFamily="18" charset="0"/>
            </a:endParaRP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1.  Most of the benefit is bookkeeping, not robustness.</a:t>
            </a:r>
            <a:r>
              <a:rPr lang="en-US" sz="2400" dirty="0" err="1" b="0">
                <a:solidFill>
                  <a:schemeClr val="tx1"/>
                </a:solidFill>
                <a:effectLst/>
                <a:latin typeface="+mn-lt"/>
                <a:ea typeface="Arial" panose="020B0604020202020204" pitchFamily="34" charset="0"/>
              </a:rPr>
              <a:t xml:space="preserve">  Simply declining to over-weight the biggest site recovers 79 to 98 percent of everything the three strongest robust rules gain over FedAvg.</a:t>
            </a:r>
            <a:endParaRPr lang="en-US" sz="1400" dirty="0">
              <a:latin typeface="Arial" panose="020B0604020202020204" pitchFamily="34" charset="0"/>
              <a:ea typeface="Arial" panose="020B0604020202020204" pitchFamily="34" charset="0"/>
            </a:endParaRP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2.  Only one rule earns its keep.</a:t>
            </a:r>
            <a:r>
              <a:rPr lang="en-US" sz="2400" dirty="0" err="1" b="0">
                <a:solidFill>
                  <a:schemeClr val="tx1"/>
                </a:solidFill>
                <a:effectLst/>
                <a:latin typeface="+mn-lt"/>
                <a:ea typeface="Arial" panose="020B0604020202020204" pitchFamily="34" charset="0"/>
              </a:rPr>
              <a:t xml:space="preserve">  Coordinate-wise median clears the control by +0.0163 AUC (p &lt; 0.0001). Trimmed mean's +0.0026 is real but too small to matter, and CS-Agg cannot be told apart from the control at all (p = 0.22).</a:t>
            </a:r>
            <a:endParaRPr lang="en-US" sz="1400" dirty="0">
              <a:latin typeface="Arial" panose="020B0604020202020204" pitchFamily="34" charset="0"/>
              <a:ea typeface="Arial" panose="020B0604020202020204" pitchFamily="34" charset="0"/>
            </a:endParaRP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3.  A popular rule does worse than doing nothing.</a:t>
            </a:r>
            <a:r>
              <a:rPr lang="en-US" sz="2400" dirty="0" err="1" b="0">
                <a:solidFill>
                  <a:schemeClr val="tx1"/>
                </a:solidFill>
                <a:effectLst/>
                <a:latin typeface="+mn-lt"/>
                <a:ea typeface="Arial" panose="020B0604020202020204" pitchFamily="34" charset="0"/>
              </a:rPr>
              <a:t xml:space="preserve">  Krum lands below the control, and on one run collapses to 0.328 AUC, worse than a coin flip, from a rule chosen for its robustness.</a:t>
            </a:r>
            <a:endParaRPr lang="en-US" sz="1400" dirty="0">
              <a:latin typeface="Arial" panose="020B0604020202020204" pitchFamily="34" charset="0"/>
              <a:ea typeface="Arial" panose="020B0604020202020204" pitchFamily="34" charset="0"/>
            </a:endParaRP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4.  Lopsided data hurts far more than broken labels.</a:t>
            </a:r>
            <a:r>
              <a:rPr lang="en-US" sz="2400" dirty="0" err="1" b="0">
                <a:solidFill>
                  <a:schemeClr val="tx1"/>
                </a:solidFill>
                <a:effectLst/>
                <a:latin typeface="+mn-lt"/>
                <a:ea typeface="Arial" panose="020B0604020202020204" pitchFamily="34" charset="0"/>
              </a:rPr>
              <a:t xml:space="preserve">  About a hundred times more. That gap narrows when each site tracks more health variables, but it never closes.</a:t>
            </a:r>
            <a:endParaRPr lang="en-US" sz="1400" dirty="0">
              <a:latin typeface="Arial" panose="020B0604020202020204" pitchFamily="34" charset="0"/>
              <a:ea typeface="Arial" panose="020B0604020202020204" pitchFamily="34" charset="0"/>
            </a:endParaRP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5.  A clean benchmark would have hidden all of this.</a:t>
            </a:r>
            <a:r>
              <a:rPr lang="en-US" sz="2400" dirty="0" err="1" b="0">
                <a:solidFill>
                  <a:schemeClr val="tx1"/>
                </a:solidFill>
                <a:effectLst/>
                <a:latin typeface="+mn-lt"/>
                <a:ea typeface="Arial" panose="020B0604020202020204" pitchFamily="34" charset="0"/>
              </a:rPr>
              <a:t xml:space="preserve">  On Breast Cancer every rule but Krum reaches 0.997 AUC or better, where no difference is visible. Messy self-reported population health data is where these rules actually separate.</a:t>
            </a:r>
            <a:endParaRPr lang="en-US" sz="1400" dirty="0">
              <a:latin typeface="Arial" panose="020B0604020202020204" pitchFamily="34" charset="0"/>
              <a:ea typeface="Arial" panose="020B0604020202020204" pitchFamily="34" charset="0"/>
            </a:endParaRPr>
          </a:p>
        </p:txBody>
      </p:sp>
      <p:sp>
        <p:nvSpPr>
          <p:cNvPr id="22" name="TextBox 21">
            <a:extLst>
              <a:ext uri="{FF2B5EF4-FFF2-40B4-BE49-F238E27FC236}">
                <a16:creationId xmlns:a16="http://schemas.microsoft.com/office/drawing/2014/main" id="{9CA64D05-C512-D942-595F-9195ABBB95E6}"/>
              </a:ext>
            </a:extLst>
          </p:cNvPr>
          <p:cNvSpPr txBox="1"/>
          <p:nvPr/>
        </p:nvSpPr>
        <p:spPr>
          <a:xfrm>
            <a:off x="15254514" y="15544800"/>
            <a:ext cx="6037944" cy="6283771"/>
          </a:xfrm>
          <a:prstGeom prst="rect">
            <a:avLst/>
          </a:prstGeom>
          <a:noFill/>
        </p:spPr>
        <p:txBody>
          <a:bodyPr wrap="square">
            <a:spAutoFit/>
          </a:bodyPr>
          <a:lstStyle/>
          <a:p>
            <a:pPr marL="285750" marR="0">
              <a:spcBef>
                <a:spcPts val="545"/>
              </a:spcBef>
              <a:spcAft>
                <a:spcPts val="400"/>
              </a:spcAft>
              <a:buNone/>
            </a:pPr>
            <a:r>
              <a:rPr lang="en-US" sz="2400" b="1" kern="0" spc="-10" dirty="0">
                <a:solidFill>
                  <a:srgbClr val="007439"/>
                </a:solidFill>
                <a:effectLst/>
                <a:latin typeface="+mn-lt"/>
                <a:ea typeface="Times New Roman" panose="02020603050405020304" pitchFamily="18" charset="0"/>
                <a:cs typeface="Times New Roman" panose="02020603050405020304" pitchFamily="18" charset="0"/>
              </a:rPr>
              <a:t>CONCLUSION</a:t>
            </a:r>
            <a:endParaRPr lang="en-US" sz="2400" b="1" kern="0" dirty="0">
              <a:solidFill>
                <a:srgbClr val="007439"/>
              </a:solidFill>
              <a:effectLst/>
              <a:latin typeface="+mn-lt"/>
              <a:ea typeface="Times New Roman" panose="02020603050405020304" pitchFamily="18" charset="0"/>
              <a:cs typeface="Times New Roman" panose="02020603050405020304" pitchFamily="18" charset="0"/>
            </a:endParaRPr>
          </a:p>
          <a:p>
            <a:pPr marL="285750">
              <a:spcBef>
                <a:spcPts val="0"/>
              </a:spcBef>
              <a:spcAft>
                <a:spcPts val="1400"/>
              </a:spcAft>
            </a:pPr>
            <a:r>
              <a:rPr lang="en-US" sz="2400" dirty="0" err="1">
                <a:solidFill>
                  <a:schemeClr val="tx1"/>
                </a:solidFill>
                <a:effectLst/>
                <a:latin typeface="+mn-lt"/>
                <a:ea typeface="Arial" panose="020B0604020202020204" pitchFamily="34" charset="0"/>
              </a:rPr>
              <a:t>Across the datasets and partitioning studied here, most of the advantage robust aggregators hold over FedAvg comes from how they weight sites, not from the robust statistic they are named for.</a:t>
            </a:r>
            <a:endParaRPr lang="en-US" sz="1400" dirty="0">
              <a:latin typeface="Arial" panose="020B0604020202020204" pitchFamily="34" charset="0"/>
              <a:ea typeface="Arial" panose="020B0604020202020204" pitchFamily="34" charset="0"/>
            </a:endParaRP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What to do about it.</a:t>
            </a:r>
            <a:r>
              <a:rPr lang="en-US" sz="2400" dirty="0" err="1" b="0">
                <a:solidFill>
                  <a:schemeClr val="tx1"/>
                </a:solidFill>
                <a:effectLst/>
                <a:latin typeface="+mn-lt"/>
                <a:ea typeface="Arial" panose="020B0604020202020204" pitchFamily="34" charset="0"/>
              </a:rPr>
              <a:t xml:space="preserve">  Any robustness evaluation run on size-skewed data should include an unweighted-mean control. It is one line of code, and without it a reported gain cannot be credited to robustness.</a:t>
            </a:r>
            <a:endParaRPr lang="en-US" sz="1400" dirty="0">
              <a:latin typeface="Arial" panose="020B0604020202020204" pitchFamily="34" charset="0"/>
              <a:ea typeface="Arial" panose="020B0604020202020204" pitchFamily="34" charset="0"/>
            </a:endParaRPr>
          </a:p>
          <a:p>
            <a:pPr marL="285750">
              <a:spcBef>
                <a:spcPts val="0"/>
              </a:spcBef>
              <a:spcAft>
                <a:spcPts val="1400"/>
              </a:spcAft>
            </a:pPr>
            <a:r>
              <a:rPr lang="en-US" sz="2400" dirty="0" err="1" b="1">
                <a:solidFill>
                  <a:schemeClr val="tx1"/>
                </a:solidFill>
                <a:effectLst/>
                <a:latin typeface="+mn-lt"/>
                <a:ea typeface="Arial" panose="020B0604020202020204" pitchFamily="34" charset="0"/>
              </a:rPr>
              <a:t xml:space="preserve">Why it matters in the field.</a:t>
            </a:r>
            <a:r>
              <a:rPr lang="en-US" sz="2400" dirty="0" err="1" b="0">
                <a:solidFill>
                  <a:schemeClr val="tx1"/>
                </a:solidFill>
                <a:effectLst/>
                <a:latin typeface="+mn-lt"/>
                <a:ea typeface="Arial" panose="020B0604020202020204" pitchFamily="34" charset="0"/>
              </a:rPr>
              <a:t xml:space="preserve">  A rule's reputation is not evidence. Krum is widely cited and failed badly here. Coordinate-wise median is about as simple as merge rules get, and it held.</a:t>
            </a:r>
            <a:endParaRPr lang="en-US" sz="1400" dirty="0">
              <a:latin typeface="Arial" panose="020B0604020202020204" pitchFamily="34" charset="0"/>
              <a:ea typeface="Arial" panose="020B0604020202020204" pitchFamily="34" charset="0"/>
            </a:endParaRPr>
          </a:p>
        </p:txBody>
      </p:sp>
      <p:sp>
        <p:nvSpPr>
          <p:cNvPr id="24" name="TextBox 23">
            <a:extLst>
              <a:ext uri="{FF2B5EF4-FFF2-40B4-BE49-F238E27FC236}">
                <a16:creationId xmlns:a16="http://schemas.microsoft.com/office/drawing/2014/main" id="{1ED2C008-5246-117D-1B16-79F6DB43B572}"/>
              </a:ext>
            </a:extLst>
          </p:cNvPr>
          <p:cNvSpPr txBox="1"/>
          <p:nvPr/>
        </p:nvSpPr>
        <p:spPr>
          <a:xfrm>
            <a:off x="15254514" y="22677120"/>
            <a:ext cx="6037944" cy="10284867"/>
          </a:xfrm>
          <a:prstGeom prst="rect">
            <a:avLst/>
          </a:prstGeom>
          <a:noFill/>
        </p:spPr>
        <p:txBody>
          <a:bodyPr wrap="square">
            <a:spAutoFit/>
          </a:bodyPr>
          <a:lstStyle/>
          <a:p>
            <a:pPr marL="285750" marR="0">
              <a:spcBef>
                <a:spcPts val="545"/>
              </a:spcBef>
              <a:spcAft>
                <a:spcPts val="400"/>
              </a:spcAft>
              <a:buNone/>
            </a:pPr>
            <a:r>
              <a:rPr lang="en-US" sz="2400" b="1" kern="0" spc="-10" dirty="0">
                <a:solidFill>
                  <a:srgbClr val="007439"/>
                </a:solidFill>
                <a:effectLst/>
                <a:latin typeface="+mn-lt"/>
                <a:ea typeface="Times New Roman" panose="02020603050405020304" pitchFamily="18" charset="0"/>
                <a:cs typeface="Times New Roman" panose="02020603050405020304" pitchFamily="18" charset="0"/>
              </a:rPr>
              <a:t>REFERENCES</a:t>
            </a:r>
            <a:endParaRPr lang="en-US" sz="2400" b="1" kern="0" dirty="0">
              <a:solidFill>
                <a:srgbClr val="007439"/>
              </a:solidFill>
              <a:effectLst/>
              <a:latin typeface="+mn-lt"/>
              <a:ea typeface="Times New Roman" panose="02020603050405020304" pitchFamily="18" charset="0"/>
              <a:cs typeface="Times New Roman" panose="02020603050405020304" pitchFamily="18" charset="0"/>
            </a:endParaRPr>
          </a:p>
          <a:p>
            <a:pPr marL="285750">
              <a:spcBef>
                <a:spcPts val="0"/>
              </a:spcBef>
              <a:spcAft>
                <a:spcPts val="1400"/>
              </a:spcAft>
            </a:pPr>
            <a:r>
              <a:rPr lang="en-US" sz="2400" dirty="0" err="1">
                <a:solidFill>
                  <a:schemeClr val="tx1"/>
                </a:solidFill>
                <a:effectLst/>
                <a:latin typeface="+mn-lt"/>
                <a:ea typeface="Arial" panose="020B0604020202020204" pitchFamily="34" charset="0"/>
              </a:rPr>
              <a:t>[1]  McMahan et al. Communication-efficient learning of deep networks from decentralized data. AISTATS, 2017.</a:t>
            </a:r>
            <a:endParaRPr lang="en-US" sz="1400" dirty="0">
              <a:latin typeface="Arial" panose="020B0604020202020204" pitchFamily="34" charset="0"/>
              <a:ea typeface="Arial" panose="020B0604020202020204" pitchFamily="34" charset="0"/>
            </a:endParaRPr>
          </a:p>
          <a:p>
            <a:pPr marL="285750">
              <a:spcBef>
                <a:spcPts val="0"/>
              </a:spcBef>
              <a:spcAft>
                <a:spcPts val="1400"/>
              </a:spcAft>
            </a:pPr>
            <a:r>
              <a:rPr lang="en-US" sz="2400" dirty="0" err="1">
                <a:solidFill>
                  <a:schemeClr val="tx1"/>
                </a:solidFill>
                <a:effectLst/>
                <a:latin typeface="+mn-lt"/>
                <a:ea typeface="Arial" panose="020B0604020202020204" pitchFamily="34" charset="0"/>
              </a:rPr>
              <a:t>[2]  Blanchard et al. Machine learning with adversaries: Byzantine tolerant gradient descent. NIPS, 2017.</a:t>
            </a:r>
            <a:endParaRPr lang="en-US" sz="1400" dirty="0">
              <a:latin typeface="Arial" panose="020B0604020202020204" pitchFamily="34" charset="0"/>
              <a:ea typeface="Arial" panose="020B0604020202020204" pitchFamily="34" charset="0"/>
            </a:endParaRPr>
          </a:p>
          <a:p>
            <a:pPr marL="285750">
              <a:spcBef>
                <a:spcPts val="0"/>
              </a:spcBef>
              <a:spcAft>
                <a:spcPts val="1400"/>
              </a:spcAft>
            </a:pPr>
            <a:r>
              <a:rPr lang="en-US" sz="2400" dirty="0" err="1">
                <a:solidFill>
                  <a:schemeClr val="tx1"/>
                </a:solidFill>
                <a:effectLst/>
                <a:latin typeface="+mn-lt"/>
                <a:ea typeface="Arial" panose="020B0604020202020204" pitchFamily="34" charset="0"/>
              </a:rPr>
              <a:t>[3]  Yin et al. Byzantine-robust distributed learning: towards optimal statistical rates. ICML, 2018.</a:t>
            </a:r>
            <a:endParaRPr lang="en-US" sz="1400" dirty="0">
              <a:latin typeface="Arial" panose="020B0604020202020204" pitchFamily="34" charset="0"/>
              <a:ea typeface="Arial" panose="020B0604020202020204" pitchFamily="34" charset="0"/>
            </a:endParaRPr>
          </a:p>
          <a:p>
            <a:pPr marL="285750">
              <a:spcBef>
                <a:spcPts val="0"/>
              </a:spcBef>
              <a:spcAft>
                <a:spcPts val="1400"/>
              </a:spcAft>
            </a:pPr>
            <a:r>
              <a:rPr lang="en-US" sz="2400" dirty="0" err="1">
                <a:solidFill>
                  <a:schemeClr val="tx1"/>
                </a:solidFill>
                <a:effectLst/>
                <a:latin typeface="+mn-lt"/>
                <a:ea typeface="Arial" panose="020B0604020202020204" pitchFamily="34" charset="0"/>
              </a:rPr>
              <a:t>[4]  Karimireddy et al. Byzantine-robust learning on heterogeneous datasets via bucketing. ICLR, 2022.</a:t>
            </a:r>
            <a:endParaRPr lang="en-US" sz="1400" dirty="0">
              <a:latin typeface="Arial" panose="020B0604020202020204" pitchFamily="34" charset="0"/>
              <a:ea typeface="Arial" panose="020B0604020202020204" pitchFamily="34" charset="0"/>
            </a:endParaRPr>
          </a:p>
          <a:p>
            <a:pPr marL="285750">
              <a:spcBef>
                <a:spcPts val="0"/>
              </a:spcBef>
              <a:spcAft>
                <a:spcPts val="1400"/>
              </a:spcAft>
            </a:pPr>
            <a:r>
              <a:rPr lang="en-US" sz="2400" dirty="0" err="1">
                <a:solidFill>
                  <a:schemeClr val="tx1"/>
                </a:solidFill>
                <a:effectLst/>
                <a:latin typeface="+mn-lt"/>
                <a:ea typeface="Arial" panose="020B0604020202020204" pitchFamily="34" charset="0"/>
              </a:rPr>
              <a:t>[5]  Hsu et al. Measuring the effects of non-identical data distribution for federated visual classification. arXiv:1909.06335, 2019.</a:t>
            </a:r>
            <a:endParaRPr lang="en-US" sz="1400" dirty="0">
              <a:latin typeface="Arial" panose="020B0604020202020204" pitchFamily="34" charset="0"/>
              <a:ea typeface="Arial" panose="020B0604020202020204" pitchFamily="34" charset="0"/>
            </a:endParaRPr>
          </a:p>
          <a:p>
            <a:pPr marL="285750">
              <a:spcBef>
                <a:spcPts val="0"/>
              </a:spcBef>
              <a:spcAft>
                <a:spcPts val="1400"/>
              </a:spcAft>
            </a:pPr>
            <a:r>
              <a:rPr lang="en-US" sz="2400" dirty="0" err="1">
                <a:solidFill>
                  <a:schemeClr val="tx1"/>
                </a:solidFill>
                <a:effectLst/>
                <a:latin typeface="+mn-lt"/>
                <a:ea typeface="Arial" panose="020B0604020202020204" pitchFamily="34" charset="0"/>
              </a:rPr>
              <a:t>[6]  Centers for Disease Control and Prevention. BRFSS 2023 survey data and documentation.</a:t>
            </a:r>
            <a:endParaRPr lang="en-US" sz="1400" dirty="0">
              <a:latin typeface="Arial" panose="020B0604020202020204" pitchFamily="34" charset="0"/>
              <a:ea typeface="Arial" panose="020B0604020202020204" pitchFamily="34" charset="0"/>
            </a:endParaRPr>
          </a:p>
        </p:txBody>
      </p:sp>
      <p:sp>
        <p:nvSpPr>
          <p:cNvPr id="13" name="TextBox 12">
            <a:extLst>
              <a:ext uri="{FF2B5EF4-FFF2-40B4-BE49-F238E27FC236}">
                <a16:creationId xmlns:a16="http://schemas.microsoft.com/office/drawing/2014/main" id="{E5F4D14D-1AA2-22EE-152A-DA045E782511}"/>
              </a:ext>
            </a:extLst>
          </p:cNvPr>
          <p:cNvSpPr txBox="1"/>
          <p:nvPr/>
        </p:nvSpPr>
        <p:spPr>
          <a:xfrm>
            <a:off x="457200" y="3200400"/>
            <a:ext cx="21031200" cy="1005840"/>
          </a:xfrm>
          <a:prstGeom prst="rect">
            <a:avLst/>
          </a:prstGeom>
          <a:noFill/>
        </p:spPr>
        <p:txBody>
          <a:bodyPr wrap="square">
            <a:spAutoFit/>
          </a:bodyPr>
          <a:lstStyle/>
          <a:p>
            <a:pPr marL="285750" marR="0">
              <a:spcBef>
                <a:spcPts val="545"/>
              </a:spcBef>
              <a:spcAft>
                <a:spcPts val="400"/>
              </a:spcAft>
              <a:buNone/>
            </a:pPr>
            <a:r>
              <a:rPr lang="en-US" sz="2800" b="1" kern="0" spc="-10" dirty="0" i="1">
                <a:solidFill>
                  <a:srgbClr val="007439"/>
                </a:solidFill>
                <a:effectLst/>
                <a:latin typeface="+mn-lt"/>
                <a:ea typeface="Times New Roman" panose="02020603050405020304" pitchFamily="18" charset="0"/>
                <a:cs typeface="Times New Roman" panose="02020603050405020304" pitchFamily="18" charset="0"/>
              </a:rPr>
              <a:t>Hospitals cannot share patient data. Federated learning gets around that. We found the field is crediting the wrong thing.</a:t>
            </a:r>
            <a:endParaRPr lang="en-US" sz="2400" b="1" kern="0" dirty="0">
              <a:solidFill>
                <a:srgbClr val="007439"/>
              </a:solidFill>
              <a:effectLst/>
              <a:latin typeface="+mn-lt"/>
              <a:ea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5F4D14D-1AA2-22EE-152A-DA045E782511}"/>
              </a:ext>
            </a:extLst>
          </p:cNvPr>
          <p:cNvSpPr txBox="1"/>
          <p:nvPr/>
        </p:nvSpPr>
        <p:spPr>
          <a:xfrm>
            <a:off x="457200" y="28620720"/>
            <a:ext cx="4206240" cy="2377440"/>
          </a:xfrm>
          <a:prstGeom prst="rect">
            <a:avLst/>
          </a:prstGeom>
          <a:noFill/>
        </p:spPr>
        <p:txBody>
          <a:bodyPr wrap="square">
            <a:spAutoFit/>
          </a:bodyPr>
          <a:lstStyle/>
          <a:p>
            <a:pPr marL="285750" marR="0">
              <a:spcBef>
                <a:spcPts val="545"/>
              </a:spcBef>
              <a:spcAft>
                <a:spcPts val="400"/>
              </a:spcAft>
              <a:buNone/>
            </a:pPr>
            <a:r>
              <a:rPr lang="en-US" sz="2400" b="1" kern="0" spc="-10" dirty="0">
                <a:solidFill>
                  <a:srgbClr val="007439"/>
                </a:solidFill>
                <a:effectLst/>
                <a:latin typeface="+mn-lt"/>
                <a:ea typeface="Times New Roman" panose="02020603050405020304" pitchFamily="18" charset="0"/>
                <a:cs typeface="Times New Roman" panose="02020603050405020304" pitchFamily="18" charset="0"/>
              </a:rPr>
              <a:t>CODE &amp; DATA</a:t>
            </a:r>
            <a:endParaRPr lang="en-US" sz="2400" b="1" kern="0" dirty="0">
              <a:solidFill>
                <a:srgbClr val="007439"/>
              </a:solidFill>
              <a:effectLst/>
              <a:latin typeface="+mn-lt"/>
              <a:ea typeface="Times New Roman" panose="02020603050405020304" pitchFamily="18" charset="0"/>
              <a:cs typeface="Times New Roman" panose="02020603050405020304" pitchFamily="18" charset="0"/>
            </a:endParaRPr>
          </a:p>
          <a:p>
            <a:pPr marL="285750" marR="0">
              <a:lnSpc>
                <a:spcPct val="100000"/>
              </a:lnSpc>
              <a:spcBef>
                <a:spcPts val="0"/>
              </a:spcBef>
              <a:spcAft>
                <a:spcPts val="1400"/>
              </a:spcAft>
              <a:buNone/>
            </a:pPr>
            <a:r>
              <a:rPr lang="en-US" sz="2400" dirty="0" err="1">
                <a:solidFill>
                  <a:schemeClr val="tx1"/>
                </a:solidFill>
                <a:effectLst/>
                <a:latin typeface="+mn-lt"/>
                <a:ea typeface="Arial" panose="020B0604020202020204" pitchFamily="34" charset="0"/>
              </a:rPr>
              <a:t>Code, data and the full experimental harness are open, with a script that re-checks every number on this poster.</a:t>
            </a:r>
            <a:endParaRPr lang="en-US" sz="1400" dirty="0">
              <a:effectLst/>
              <a:latin typeface="Arial" panose="020B0604020202020204" pitchFamily="34" charset="0"/>
              <a:ea typeface="Arial" panose="020B0604020202020204" pitchFamily="34" charset="0"/>
            </a:endParaRPr>
          </a:p>
          <a:p>
            <a:pPr marL="285750" marR="0">
              <a:lnSpc>
                <a:spcPct val="100000"/>
              </a:lnSpc>
              <a:spcBef>
                <a:spcPts val="0"/>
              </a:spcBef>
              <a:spcAft>
                <a:spcPts val="1400"/>
              </a:spcAft>
              <a:buNone/>
            </a:pPr>
            <a:r>
              <a:rPr lang="en-US" sz="2400" dirty="0" err="1">
                <a:solidFill>
                  <a:schemeClr val="tx1"/>
                </a:solidFill>
                <a:effectLst/>
                <a:latin typeface="+mn-lt"/>
                <a:ea typeface="Arial" panose="020B0604020202020204" pitchFamily="34" charset="0"/>
              </a:rPr>
              <a:t>osf.io/d5u2q</a:t>
            </a:r>
            <a:endParaRPr lang="en-US" sz="1400" dirty="0">
              <a:effectLst/>
              <a:latin typeface="Arial" panose="020B0604020202020204" pitchFamily="34" charset="0"/>
              <a:ea typeface="Arial" panose="020B0604020202020204" pitchFamily="34" charset="0"/>
            </a:endParaRPr>
          </a:p>
        </p:txBody>
      </p:sp>
      <p:pic>
        <p:nvPicPr>
          <p:cNvPr id="25" name="Picture 24" descr="posterD_federated.png"/>
          <p:cNvPicPr>
            <a:picLocks noChangeAspect="1"/>
          </p:cNvPicPr>
          <p:nvPr/>
        </p:nvPicPr>
        <p:blipFill>
          <a:blip r:embed="rId4"/>
          <a:stretch>
            <a:fillRect/>
          </a:stretch>
        </p:blipFill>
        <p:spPr>
          <a:xfrm>
            <a:off x="457200" y="8595360"/>
            <a:ext cx="6035040" cy="2651760"/>
          </a:xfrm>
          <a:prstGeom prst="rect">
            <a:avLst/>
          </a:prstGeom>
        </p:spPr>
      </p:pic>
      <p:pic>
        <p:nvPicPr>
          <p:cNvPr id="26" name="Picture 25" descr="posterA_decomposition.png"/>
          <p:cNvPicPr>
            <a:picLocks noChangeAspect="1"/>
          </p:cNvPicPr>
          <p:nvPr/>
        </p:nvPicPr>
        <p:blipFill>
          <a:blip r:embed="rId5"/>
          <a:stretch>
            <a:fillRect/>
          </a:stretch>
        </p:blipFill>
        <p:spPr>
          <a:xfrm>
            <a:off x="7589520" y="8503920"/>
            <a:ext cx="6766560" cy="7680960"/>
          </a:xfrm>
          <a:prstGeom prst="rect">
            <a:avLst/>
          </a:prstGeom>
        </p:spPr>
      </p:pic>
      <p:pic>
        <p:nvPicPr>
          <p:cNvPr id="27" name="Picture 26" descr="posterB_both_datasets.png"/>
          <p:cNvPicPr>
            <a:picLocks noChangeAspect="1"/>
          </p:cNvPicPr>
          <p:nvPr/>
        </p:nvPicPr>
        <p:blipFill>
          <a:blip r:embed="rId6"/>
          <a:stretch>
            <a:fillRect/>
          </a:stretch>
        </p:blipFill>
        <p:spPr>
          <a:xfrm>
            <a:off x="7589520" y="16550640"/>
            <a:ext cx="6766560" cy="7498079"/>
          </a:xfrm>
          <a:prstGeom prst="rect">
            <a:avLst/>
          </a:prstGeom>
        </p:spPr>
      </p:pic>
      <p:pic>
        <p:nvPicPr>
          <p:cNvPr id="28" name="Picture 27" descr="posterC_runlevel.png"/>
          <p:cNvPicPr>
            <a:picLocks noChangeAspect="1"/>
          </p:cNvPicPr>
          <p:nvPr/>
        </p:nvPicPr>
        <p:blipFill>
          <a:blip r:embed="rId7"/>
          <a:stretch>
            <a:fillRect/>
          </a:stretch>
        </p:blipFill>
        <p:spPr>
          <a:xfrm>
            <a:off x="7589520" y="24414480"/>
            <a:ext cx="6766560" cy="6492240"/>
          </a:xfrm>
          <a:prstGeom prst="rect">
            <a:avLst/>
          </a:prstGeom>
        </p:spPr>
      </p:pic>
      <p:pic>
        <p:nvPicPr>
          <p:cNvPr id="29" name="Picture 28" descr="posterE_qr.png"/>
          <p:cNvPicPr>
            <a:picLocks noChangeAspect="1"/>
          </p:cNvPicPr>
          <p:nvPr/>
        </p:nvPicPr>
        <p:blipFill>
          <a:blip r:embed="rId8"/>
          <a:stretch>
            <a:fillRect/>
          </a:stretch>
        </p:blipFill>
        <p:spPr>
          <a:xfrm>
            <a:off x="4892040" y="29077920"/>
            <a:ext cx="1554480" cy="1554480"/>
          </a:xfrm>
          <a:prstGeom prst="rect">
            <a:avLst/>
          </a:prstGeom>
        </p:spPr>
      </p:pic>
    </p:spTree>
    <p:extLst>
      <p:ext uri="{BB962C8B-B14F-4D97-AF65-F5344CB8AC3E}">
        <p14:creationId xmlns:p14="http://schemas.microsoft.com/office/powerpoint/2010/main" val="104003648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C000D45010C7498D05733EBEC534BB" ma:contentTypeVersion="14" ma:contentTypeDescription="Create a new document." ma:contentTypeScope="" ma:versionID="666928a412aa3dea9808672f3c058c78">
  <xsd:schema xmlns:xsd="http://www.w3.org/2001/XMLSchema" xmlns:xs="http://www.w3.org/2001/XMLSchema" xmlns:p="http://schemas.microsoft.com/office/2006/metadata/properties" xmlns:ns3="1ae659e6-6caa-423e-b45e-6e0e75551422" xmlns:ns4="d00c5bf2-b36b-4152-bf85-3189f2158ece" targetNamespace="http://schemas.microsoft.com/office/2006/metadata/properties" ma:root="true" ma:fieldsID="aef7f1b3973d20bec3fae934efbd0a2b" ns3:_="" ns4:_="">
    <xsd:import namespace="1ae659e6-6caa-423e-b45e-6e0e75551422"/>
    <xsd:import namespace="d00c5bf2-b36b-4152-bf85-3189f2158ece"/>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4:SharingHintHash"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e659e6-6caa-423e-b45e-6e0e755514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00c5bf2-b36b-4152-bf85-3189f2158ece"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1D5FCE8-B829-45B1-A51F-D8BECFA6CED7}">
  <ds:schemaRefs>
    <ds:schemaRef ds:uri="d00c5bf2-b36b-4152-bf85-3189f2158ece"/>
    <ds:schemaRef ds:uri="http://purl.org/dc/elements/1.1/"/>
    <ds:schemaRef ds:uri="http://www.w3.org/XML/1998/namespace"/>
    <ds:schemaRef ds:uri="http://schemas.microsoft.com/office/infopath/2007/PartnerControls"/>
    <ds:schemaRef ds:uri="1ae659e6-6caa-423e-b45e-6e0e75551422"/>
    <ds:schemaRef ds:uri="http://purl.org/dc/terms/"/>
    <ds:schemaRef ds:uri="http://schemas.microsoft.com/office/2006/documentManagement/types"/>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29E675F4-C097-48DE-8DE6-7CDCDDE126E4}">
  <ds:schemaRefs>
    <ds:schemaRef ds:uri="http://schemas.microsoft.com/sharepoint/v3/contenttype/forms"/>
  </ds:schemaRefs>
</ds:datastoreItem>
</file>

<file path=customXml/itemProps3.xml><?xml version="1.0" encoding="utf-8"?>
<ds:datastoreItem xmlns:ds="http://schemas.openxmlformats.org/officeDocument/2006/customXml" ds:itemID="{C0749E7D-E8B1-41CD-A3F0-65354B955A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e659e6-6caa-423e-b45e-6e0e75551422"/>
    <ds:schemaRef ds:uri="d00c5bf2-b36b-4152-bf85-3189f2158e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7f4b8a2-ad4f-41b5-9a91-284d2cc38f56}" enabled="1" method="Standard" siteId="{70de1992-07c6-480f-a318-a1afcba03983}" removed="0"/>
</clbl:labelList>
</file>

<file path=docProps/app.xml><?xml version="1.0" encoding="utf-8"?>
<Properties xmlns="http://schemas.openxmlformats.org/officeDocument/2006/extended-properties" xmlns:vt="http://schemas.openxmlformats.org/officeDocument/2006/docPropsVTypes">
  <Template>Office 2013 - 2022 Theme</Template>
  <TotalTime>314</TotalTime>
  <Words>827</Words>
  <Application>Microsoft Office PowerPoint</Application>
  <PresentationFormat>Custom</PresentationFormat>
  <Paragraphs>35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2013 - 2022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Chavez, Adam</dc:creator>
  <cp:lastModifiedBy>Chavez, Adam</cp:lastModifiedBy>
  <cp:revision>12</cp:revision>
  <cp:lastPrinted>2025-04-23T22:44:43Z</cp:lastPrinted>
  <dcterms:created xsi:type="dcterms:W3CDTF">2022-10-20T17:08:55Z</dcterms:created>
  <dcterms:modified xsi:type="dcterms:W3CDTF">2026-08-27T21:06:38Z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0x01010045C000D45010C7498D05733EBEC534BB</vt:lpwstr>
  </property>
</Properties>
</file>