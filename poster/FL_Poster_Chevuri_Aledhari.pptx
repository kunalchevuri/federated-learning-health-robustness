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4"/>
  </p:sldMasterIdLst>
  <p:sldIdLst>
    <p:sldId id="256" r:id="rId5"/>
  </p:sldIdLst>
  <p:sldSz cx="21945600" cy="32918400"/>
  <p:notesSz cx="7315200" cy="9601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7439"/>
    <a:srgbClr val="006F33"/>
    <a:srgbClr val="E2F0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D8BA1A-6B88-4C10-AAB9-A8E082FC9F81}" v="31" dt="2026-08-27T21:06:32.7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p:scale>
          <a:sx n="50" d="100"/>
          <a:sy n="50" d="100"/>
        </p:scale>
        <p:origin x="1320"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microsoft.com/office/2016/11/relationships/changesInfo" Target="changesInfos/changesInfo1.xml"/><Relationship Id="rId11"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avez, Adam" userId="4b96c546-e0ef-48cf-ad45-4211b362b303" providerId="ADAL" clId="{65F7D7E1-1086-475A-B866-87D93FA6EB20}"/>
    <pc:docChg chg="modSld">
      <pc:chgData name="Chavez, Adam" userId="4b96c546-e0ef-48cf-ad45-4211b362b303" providerId="ADAL" clId="{65F7D7E1-1086-475A-B866-87D93FA6EB20}" dt="2026-08-27T21:06:32.765" v="30"/>
      <pc:docMkLst>
        <pc:docMk/>
      </pc:docMkLst>
      <pc:sldChg chg="addSp modSp">
        <pc:chgData name="Chavez, Adam" userId="4b96c546-e0ef-48cf-ad45-4211b362b303" providerId="ADAL" clId="{65F7D7E1-1086-475A-B866-87D93FA6EB20}" dt="2026-08-27T21:06:32.765" v="30"/>
        <pc:sldMkLst>
          <pc:docMk/>
          <pc:sldMk cId="1040036484" sldId="256"/>
        </pc:sldMkLst>
        <pc:spChg chg="mod">
          <ac:chgData name="Chavez, Adam" userId="4b96c546-e0ef-48cf-ad45-4211b362b303" providerId="ADAL" clId="{65F7D7E1-1086-475A-B866-87D93FA6EB20}" dt="2026-08-27T21:04:34.177" v="17"/>
          <ac:spMkLst>
            <pc:docMk/>
            <pc:sldMk cId="1040036484" sldId="256"/>
            <ac:spMk id="15" creationId="{D46CAF31-D57E-C647-7FD1-0D8FF812F8E9}"/>
          </ac:spMkLst>
        </pc:spChg>
        <pc:spChg chg="mod">
          <ac:chgData name="Chavez, Adam" userId="4b96c546-e0ef-48cf-ad45-4211b362b303" providerId="ADAL" clId="{65F7D7E1-1086-475A-B866-87D93FA6EB20}" dt="2026-08-27T21:05:25.695" v="26"/>
          <ac:spMkLst>
            <pc:docMk/>
            <pc:sldMk cId="1040036484" sldId="256"/>
            <ac:spMk id="18" creationId="{49650CBE-7A43-B07A-2977-FBEF02B5F718}"/>
          </ac:spMkLst>
        </pc:spChg>
        <pc:spChg chg="mod">
          <ac:chgData name="Chavez, Adam" userId="4b96c546-e0ef-48cf-ad45-4211b362b303" providerId="ADAL" clId="{65F7D7E1-1086-475A-B866-87D93FA6EB20}" dt="2026-08-27T21:06:32.765" v="30"/>
          <ac:spMkLst>
            <pc:docMk/>
            <pc:sldMk cId="1040036484" sldId="256"/>
            <ac:spMk id="24" creationId="{1ED2C008-5246-117D-1B16-79F6DB43B572}"/>
          </ac:spMkLst>
        </pc:spChg>
        <pc:picChg chg="add mod">
          <ac:chgData name="Chavez, Adam" userId="4b96c546-e0ef-48cf-ad45-4211b362b303" providerId="ADAL" clId="{65F7D7E1-1086-475A-B866-87D93FA6EB20}" dt="2026-08-27T21:01:43.233" v="0"/>
          <ac:picMkLst>
            <pc:docMk/>
            <pc:sldMk cId="1040036484" sldId="256"/>
            <ac:picMk id="6" creationId="{AEE4096F-C37E-5785-B26E-C6146690E189}"/>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45920" y="5387342"/>
            <a:ext cx="18653760" cy="11460480"/>
          </a:xfrm>
        </p:spPr>
        <p:txBody>
          <a:bodyPr anchor="b"/>
          <a:lstStyle>
            <a:lvl1pPr algn="ctr">
              <a:defRPr sz="14400"/>
            </a:lvl1pPr>
          </a:lstStyle>
          <a:p>
            <a:r>
              <a:rPr lang="en-US"/>
              <a:t>Click to edit Master title style</a:t>
            </a:r>
            <a:endParaRPr lang="en-US" dirty="0"/>
          </a:p>
        </p:txBody>
      </p:sp>
      <p:sp>
        <p:nvSpPr>
          <p:cNvPr id="3" name="Subtitle 2"/>
          <p:cNvSpPr>
            <a:spLocks noGrp="1"/>
          </p:cNvSpPr>
          <p:nvPr>
            <p:ph type="subTitle" idx="1"/>
          </p:nvPr>
        </p:nvSpPr>
        <p:spPr>
          <a:xfrm>
            <a:off x="2743200" y="17289782"/>
            <a:ext cx="16459200" cy="7947658"/>
          </a:xfrm>
        </p:spPr>
        <p:txBody>
          <a:bodyPr/>
          <a:lstStyle>
            <a:lvl1pPr marL="0" indent="0" algn="ctr">
              <a:buNone/>
              <a:defRPr sz="5760"/>
            </a:lvl1pPr>
            <a:lvl2pPr marL="1097280" indent="0" algn="ctr">
              <a:buNone/>
              <a:defRPr sz="4800"/>
            </a:lvl2pPr>
            <a:lvl3pPr marL="2194560" indent="0" algn="ctr">
              <a:buNone/>
              <a:defRPr sz="4320"/>
            </a:lvl3pPr>
            <a:lvl4pPr marL="3291840" indent="0" algn="ctr">
              <a:buNone/>
              <a:defRPr sz="3840"/>
            </a:lvl4pPr>
            <a:lvl5pPr marL="4389120" indent="0" algn="ctr">
              <a:buNone/>
              <a:defRPr sz="3840"/>
            </a:lvl5pPr>
            <a:lvl6pPr marL="5486400" indent="0" algn="ctr">
              <a:buNone/>
              <a:defRPr sz="3840"/>
            </a:lvl6pPr>
            <a:lvl7pPr marL="6583680" indent="0" algn="ctr">
              <a:buNone/>
              <a:defRPr sz="3840"/>
            </a:lvl7pPr>
            <a:lvl8pPr marL="7680960" indent="0" algn="ctr">
              <a:buNone/>
              <a:defRPr sz="3840"/>
            </a:lvl8pPr>
            <a:lvl9pPr marL="8778240" indent="0" algn="ctr">
              <a:buNone/>
              <a:defRPr sz="384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94C8A3B-F308-473F-A1C4-090B4F222883}"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1D2D75-94A3-47B5-BE18-6EDAF605EBE6}" type="slidenum">
              <a:rPr lang="en-US" smtClean="0"/>
              <a:t>‹#›</a:t>
            </a:fld>
            <a:endParaRPr lang="en-US"/>
          </a:p>
        </p:txBody>
      </p:sp>
    </p:spTree>
    <p:extLst>
      <p:ext uri="{BB962C8B-B14F-4D97-AF65-F5344CB8AC3E}">
        <p14:creationId xmlns:p14="http://schemas.microsoft.com/office/powerpoint/2010/main" val="10529033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94C8A3B-F308-473F-A1C4-090B4F222883}"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1D2D75-94A3-47B5-BE18-6EDAF605EBE6}" type="slidenum">
              <a:rPr lang="en-US" smtClean="0"/>
              <a:t>‹#›</a:t>
            </a:fld>
            <a:endParaRPr lang="en-US"/>
          </a:p>
        </p:txBody>
      </p:sp>
    </p:spTree>
    <p:extLst>
      <p:ext uri="{BB962C8B-B14F-4D97-AF65-F5344CB8AC3E}">
        <p14:creationId xmlns:p14="http://schemas.microsoft.com/office/powerpoint/2010/main" val="16495497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97331" y="8206749"/>
            <a:ext cx="18928080" cy="13693138"/>
          </a:xfrm>
        </p:spPr>
        <p:txBody>
          <a:bodyPr anchor="b"/>
          <a:lstStyle>
            <a:lvl1pPr>
              <a:defRPr sz="14400"/>
            </a:lvl1pPr>
          </a:lstStyle>
          <a:p>
            <a:r>
              <a:rPr lang="en-US"/>
              <a:t>Click to edit Master title style</a:t>
            </a:r>
            <a:endParaRPr lang="en-US" dirty="0"/>
          </a:p>
        </p:txBody>
      </p:sp>
      <p:sp>
        <p:nvSpPr>
          <p:cNvPr id="3" name="Text Placeholder 2"/>
          <p:cNvSpPr>
            <a:spLocks noGrp="1"/>
          </p:cNvSpPr>
          <p:nvPr>
            <p:ph type="body" idx="1"/>
          </p:nvPr>
        </p:nvSpPr>
        <p:spPr>
          <a:xfrm>
            <a:off x="1497331" y="22029429"/>
            <a:ext cx="18928080" cy="7200898"/>
          </a:xfrm>
        </p:spPr>
        <p:txBody>
          <a:bodyPr/>
          <a:lstStyle>
            <a:lvl1pPr marL="0" indent="0">
              <a:buNone/>
              <a:defRPr sz="5760">
                <a:solidFill>
                  <a:schemeClr val="tx1"/>
                </a:solidFill>
              </a:defRPr>
            </a:lvl1pPr>
            <a:lvl2pPr marL="1097280" indent="0">
              <a:buNone/>
              <a:defRPr sz="4800">
                <a:solidFill>
                  <a:schemeClr val="tx1">
                    <a:tint val="75000"/>
                  </a:schemeClr>
                </a:solidFill>
              </a:defRPr>
            </a:lvl2pPr>
            <a:lvl3pPr marL="2194560" indent="0">
              <a:buNone/>
              <a:defRPr sz="4320">
                <a:solidFill>
                  <a:schemeClr val="tx1">
                    <a:tint val="75000"/>
                  </a:schemeClr>
                </a:solidFill>
              </a:defRPr>
            </a:lvl3pPr>
            <a:lvl4pPr marL="3291840" indent="0">
              <a:buNone/>
              <a:defRPr sz="3840">
                <a:solidFill>
                  <a:schemeClr val="tx1">
                    <a:tint val="75000"/>
                  </a:schemeClr>
                </a:solidFill>
              </a:defRPr>
            </a:lvl4pPr>
            <a:lvl5pPr marL="4389120" indent="0">
              <a:buNone/>
              <a:defRPr sz="3840">
                <a:solidFill>
                  <a:schemeClr val="tx1">
                    <a:tint val="75000"/>
                  </a:schemeClr>
                </a:solidFill>
              </a:defRPr>
            </a:lvl5pPr>
            <a:lvl6pPr marL="5486400" indent="0">
              <a:buNone/>
              <a:defRPr sz="3840">
                <a:solidFill>
                  <a:schemeClr val="tx1">
                    <a:tint val="75000"/>
                  </a:schemeClr>
                </a:solidFill>
              </a:defRPr>
            </a:lvl6pPr>
            <a:lvl7pPr marL="6583680" indent="0">
              <a:buNone/>
              <a:defRPr sz="3840">
                <a:solidFill>
                  <a:schemeClr val="tx1">
                    <a:tint val="75000"/>
                  </a:schemeClr>
                </a:solidFill>
              </a:defRPr>
            </a:lvl7pPr>
            <a:lvl8pPr marL="7680960" indent="0">
              <a:buNone/>
              <a:defRPr sz="3840">
                <a:solidFill>
                  <a:schemeClr val="tx1">
                    <a:tint val="75000"/>
                  </a:schemeClr>
                </a:solidFill>
              </a:defRPr>
            </a:lvl8pPr>
            <a:lvl9pPr marL="8778240" indent="0">
              <a:buNone/>
              <a:defRPr sz="384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94C8A3B-F308-473F-A1C4-090B4F222883}"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1D2D75-94A3-47B5-BE18-6EDAF605EBE6}" type="slidenum">
              <a:rPr lang="en-US" smtClean="0"/>
              <a:t>‹#›</a:t>
            </a:fld>
            <a:endParaRPr lang="en-US"/>
          </a:p>
        </p:txBody>
      </p:sp>
    </p:spTree>
    <p:extLst>
      <p:ext uri="{BB962C8B-B14F-4D97-AF65-F5344CB8AC3E}">
        <p14:creationId xmlns:p14="http://schemas.microsoft.com/office/powerpoint/2010/main" val="15116990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08760" y="8763000"/>
            <a:ext cx="932688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1109960" y="8763000"/>
            <a:ext cx="932688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94C8A3B-F308-473F-A1C4-090B4F222883}" type="datetimeFigureOut">
              <a:rPr lang="en-US" smtClean="0"/>
              <a:t>8/27/2026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91D2D75-94A3-47B5-BE18-6EDAF605EBE6}" type="slidenum">
              <a:rPr lang="en-US" smtClean="0"/>
              <a:t>‹#›</a:t>
            </a:fld>
            <a:endParaRPr lang="en-US"/>
          </a:p>
        </p:txBody>
      </p:sp>
    </p:spTree>
    <p:extLst>
      <p:ext uri="{BB962C8B-B14F-4D97-AF65-F5344CB8AC3E}">
        <p14:creationId xmlns:p14="http://schemas.microsoft.com/office/powerpoint/2010/main" val="22984747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511618" y="1752607"/>
            <a:ext cx="18928080" cy="63627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1511621" y="8069582"/>
            <a:ext cx="9284016" cy="3954778"/>
          </a:xfrm>
        </p:spPr>
        <p:txBody>
          <a:bodyPr anchor="b"/>
          <a:lstStyle>
            <a:lvl1pPr marL="0" indent="0">
              <a:buNone/>
              <a:defRPr sz="5760" b="1"/>
            </a:lvl1pPr>
            <a:lvl2pPr marL="1097280" indent="0">
              <a:buNone/>
              <a:defRPr sz="4800" b="1"/>
            </a:lvl2pPr>
            <a:lvl3pPr marL="2194560" indent="0">
              <a:buNone/>
              <a:defRPr sz="4320" b="1"/>
            </a:lvl3pPr>
            <a:lvl4pPr marL="3291840" indent="0">
              <a:buNone/>
              <a:defRPr sz="3840" b="1"/>
            </a:lvl4pPr>
            <a:lvl5pPr marL="4389120" indent="0">
              <a:buNone/>
              <a:defRPr sz="3840" b="1"/>
            </a:lvl5pPr>
            <a:lvl6pPr marL="5486400" indent="0">
              <a:buNone/>
              <a:defRPr sz="3840" b="1"/>
            </a:lvl6pPr>
            <a:lvl7pPr marL="6583680" indent="0">
              <a:buNone/>
              <a:defRPr sz="3840" b="1"/>
            </a:lvl7pPr>
            <a:lvl8pPr marL="7680960" indent="0">
              <a:buNone/>
              <a:defRPr sz="3840" b="1"/>
            </a:lvl8pPr>
            <a:lvl9pPr marL="8778240" indent="0">
              <a:buNone/>
              <a:defRPr sz="3840" b="1"/>
            </a:lvl9pPr>
          </a:lstStyle>
          <a:p>
            <a:pPr lvl="0"/>
            <a:r>
              <a:rPr lang="en-US"/>
              <a:t>Click to edit Master text styles</a:t>
            </a:r>
          </a:p>
        </p:txBody>
      </p:sp>
      <p:sp>
        <p:nvSpPr>
          <p:cNvPr id="4" name="Content Placeholder 3"/>
          <p:cNvSpPr>
            <a:spLocks noGrp="1"/>
          </p:cNvSpPr>
          <p:nvPr>
            <p:ph sz="half" idx="2"/>
          </p:nvPr>
        </p:nvSpPr>
        <p:spPr>
          <a:xfrm>
            <a:off x="1511621" y="12024360"/>
            <a:ext cx="9284016"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1109961" y="8069582"/>
            <a:ext cx="9329738" cy="3954778"/>
          </a:xfrm>
        </p:spPr>
        <p:txBody>
          <a:bodyPr anchor="b"/>
          <a:lstStyle>
            <a:lvl1pPr marL="0" indent="0">
              <a:buNone/>
              <a:defRPr sz="5760" b="1"/>
            </a:lvl1pPr>
            <a:lvl2pPr marL="1097280" indent="0">
              <a:buNone/>
              <a:defRPr sz="4800" b="1"/>
            </a:lvl2pPr>
            <a:lvl3pPr marL="2194560" indent="0">
              <a:buNone/>
              <a:defRPr sz="4320" b="1"/>
            </a:lvl3pPr>
            <a:lvl4pPr marL="3291840" indent="0">
              <a:buNone/>
              <a:defRPr sz="3840" b="1"/>
            </a:lvl4pPr>
            <a:lvl5pPr marL="4389120" indent="0">
              <a:buNone/>
              <a:defRPr sz="3840" b="1"/>
            </a:lvl5pPr>
            <a:lvl6pPr marL="5486400" indent="0">
              <a:buNone/>
              <a:defRPr sz="3840" b="1"/>
            </a:lvl6pPr>
            <a:lvl7pPr marL="6583680" indent="0">
              <a:buNone/>
              <a:defRPr sz="3840" b="1"/>
            </a:lvl7pPr>
            <a:lvl8pPr marL="7680960" indent="0">
              <a:buNone/>
              <a:defRPr sz="3840" b="1"/>
            </a:lvl8pPr>
            <a:lvl9pPr marL="8778240" indent="0">
              <a:buNone/>
              <a:defRPr sz="3840" b="1"/>
            </a:lvl9pPr>
          </a:lstStyle>
          <a:p>
            <a:pPr lvl="0"/>
            <a:r>
              <a:rPr lang="en-US"/>
              <a:t>Click to edit Master text styles</a:t>
            </a:r>
          </a:p>
        </p:txBody>
      </p:sp>
      <p:sp>
        <p:nvSpPr>
          <p:cNvPr id="6" name="Content Placeholder 5"/>
          <p:cNvSpPr>
            <a:spLocks noGrp="1"/>
          </p:cNvSpPr>
          <p:nvPr>
            <p:ph sz="quarter" idx="4"/>
          </p:nvPr>
        </p:nvSpPr>
        <p:spPr>
          <a:xfrm>
            <a:off x="11109961" y="12024360"/>
            <a:ext cx="9329738"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94C8A3B-F308-473F-A1C4-090B4F222883}" type="datetimeFigureOut">
              <a:rPr lang="en-US" smtClean="0"/>
              <a:t>8/27/2026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91D2D75-94A3-47B5-BE18-6EDAF605EBE6}" type="slidenum">
              <a:rPr lang="en-US" smtClean="0"/>
              <a:t>‹#›</a:t>
            </a:fld>
            <a:endParaRPr lang="en-US"/>
          </a:p>
        </p:txBody>
      </p:sp>
    </p:spTree>
    <p:extLst>
      <p:ext uri="{BB962C8B-B14F-4D97-AF65-F5344CB8AC3E}">
        <p14:creationId xmlns:p14="http://schemas.microsoft.com/office/powerpoint/2010/main" val="24940008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94C8A3B-F308-473F-A1C4-090B4F222883}" type="datetimeFigureOut">
              <a:rPr lang="en-US" smtClean="0"/>
              <a:t>8/27/2026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91D2D75-94A3-47B5-BE18-6EDAF605EBE6}" type="slidenum">
              <a:rPr lang="en-US" smtClean="0"/>
              <a:t>‹#›</a:t>
            </a:fld>
            <a:endParaRPr lang="en-US"/>
          </a:p>
        </p:txBody>
      </p:sp>
    </p:spTree>
    <p:extLst>
      <p:ext uri="{BB962C8B-B14F-4D97-AF65-F5344CB8AC3E}">
        <p14:creationId xmlns:p14="http://schemas.microsoft.com/office/powerpoint/2010/main" val="7357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94C8A3B-F308-473F-A1C4-090B4F222883}" type="datetimeFigureOut">
              <a:rPr lang="en-US" smtClean="0"/>
              <a:t>8/27/2026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91D2D75-94A3-47B5-BE18-6EDAF605EBE6}" type="slidenum">
              <a:rPr lang="en-US" smtClean="0"/>
              <a:t>‹#›</a:t>
            </a:fld>
            <a:endParaRPr lang="en-US"/>
          </a:p>
        </p:txBody>
      </p:sp>
    </p:spTree>
    <p:extLst>
      <p:ext uri="{BB962C8B-B14F-4D97-AF65-F5344CB8AC3E}">
        <p14:creationId xmlns:p14="http://schemas.microsoft.com/office/powerpoint/2010/main" val="13303757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11619" y="2194560"/>
            <a:ext cx="7078027" cy="7680960"/>
          </a:xfrm>
        </p:spPr>
        <p:txBody>
          <a:bodyPr anchor="b"/>
          <a:lstStyle>
            <a:lvl1pPr>
              <a:defRPr sz="7680"/>
            </a:lvl1pPr>
          </a:lstStyle>
          <a:p>
            <a:r>
              <a:rPr lang="en-US"/>
              <a:t>Click to edit Master title style</a:t>
            </a:r>
            <a:endParaRPr lang="en-US" dirty="0"/>
          </a:p>
        </p:txBody>
      </p:sp>
      <p:sp>
        <p:nvSpPr>
          <p:cNvPr id="3" name="Content Placeholder 2"/>
          <p:cNvSpPr>
            <a:spLocks noGrp="1"/>
          </p:cNvSpPr>
          <p:nvPr>
            <p:ph idx="1"/>
          </p:nvPr>
        </p:nvSpPr>
        <p:spPr>
          <a:xfrm>
            <a:off x="9329738" y="4739647"/>
            <a:ext cx="11109960" cy="23393400"/>
          </a:xfrm>
        </p:spPr>
        <p:txBody>
          <a:bodyPr/>
          <a:lstStyle>
            <a:lvl1pPr>
              <a:defRPr sz="7680"/>
            </a:lvl1pPr>
            <a:lvl2pPr>
              <a:defRPr sz="6720"/>
            </a:lvl2pPr>
            <a:lvl3pPr>
              <a:defRPr sz="5760"/>
            </a:lvl3pPr>
            <a:lvl4pPr>
              <a:defRPr sz="4800"/>
            </a:lvl4pPr>
            <a:lvl5pPr>
              <a:defRPr sz="4800"/>
            </a:lvl5pPr>
            <a:lvl6pPr>
              <a:defRPr sz="4800"/>
            </a:lvl6pPr>
            <a:lvl7pPr>
              <a:defRPr sz="4800"/>
            </a:lvl7pPr>
            <a:lvl8pPr>
              <a:defRPr sz="4800"/>
            </a:lvl8pPr>
            <a:lvl9pPr>
              <a:defRPr sz="4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511619" y="9875520"/>
            <a:ext cx="7078027" cy="18295622"/>
          </a:xfrm>
        </p:spPr>
        <p:txBody>
          <a:bodyPr/>
          <a:lstStyle>
            <a:lvl1pPr marL="0" indent="0">
              <a:buNone/>
              <a:defRPr sz="3840"/>
            </a:lvl1pPr>
            <a:lvl2pPr marL="1097280" indent="0">
              <a:buNone/>
              <a:defRPr sz="3360"/>
            </a:lvl2pPr>
            <a:lvl3pPr marL="2194560" indent="0">
              <a:buNone/>
              <a:defRPr sz="2880"/>
            </a:lvl3pPr>
            <a:lvl4pPr marL="3291840" indent="0">
              <a:buNone/>
              <a:defRPr sz="2400"/>
            </a:lvl4pPr>
            <a:lvl5pPr marL="4389120" indent="0">
              <a:buNone/>
              <a:defRPr sz="2400"/>
            </a:lvl5pPr>
            <a:lvl6pPr marL="5486400" indent="0">
              <a:buNone/>
              <a:defRPr sz="2400"/>
            </a:lvl6pPr>
            <a:lvl7pPr marL="6583680" indent="0">
              <a:buNone/>
              <a:defRPr sz="2400"/>
            </a:lvl7pPr>
            <a:lvl8pPr marL="7680960" indent="0">
              <a:buNone/>
              <a:defRPr sz="2400"/>
            </a:lvl8pPr>
            <a:lvl9pPr marL="8778240" indent="0">
              <a:buNone/>
              <a:defRPr sz="2400"/>
            </a:lvl9pPr>
          </a:lstStyle>
          <a:p>
            <a:pPr lvl="0"/>
            <a:r>
              <a:rPr lang="en-US"/>
              <a:t>Click to edit Master text styles</a:t>
            </a:r>
          </a:p>
        </p:txBody>
      </p:sp>
      <p:sp>
        <p:nvSpPr>
          <p:cNvPr id="5" name="Date Placeholder 4"/>
          <p:cNvSpPr>
            <a:spLocks noGrp="1"/>
          </p:cNvSpPr>
          <p:nvPr>
            <p:ph type="dt" sz="half" idx="10"/>
          </p:nvPr>
        </p:nvSpPr>
        <p:spPr/>
        <p:txBody>
          <a:bodyPr/>
          <a:lstStyle/>
          <a:p>
            <a:fld id="{494C8A3B-F308-473F-A1C4-090B4F222883}" type="datetimeFigureOut">
              <a:rPr lang="en-US" smtClean="0"/>
              <a:t>8/27/2026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91D2D75-94A3-47B5-BE18-6EDAF605EBE6}" type="slidenum">
              <a:rPr lang="en-US" smtClean="0"/>
              <a:t>‹#›</a:t>
            </a:fld>
            <a:endParaRPr lang="en-US"/>
          </a:p>
        </p:txBody>
      </p:sp>
    </p:spTree>
    <p:extLst>
      <p:ext uri="{BB962C8B-B14F-4D97-AF65-F5344CB8AC3E}">
        <p14:creationId xmlns:p14="http://schemas.microsoft.com/office/powerpoint/2010/main" val="4436166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11619" y="2194560"/>
            <a:ext cx="7078027" cy="7680960"/>
          </a:xfrm>
        </p:spPr>
        <p:txBody>
          <a:bodyPr anchor="b"/>
          <a:lstStyle>
            <a:lvl1pPr>
              <a:defRPr sz="7680"/>
            </a:lvl1pPr>
          </a:lstStyle>
          <a:p>
            <a:r>
              <a:rPr lang="en-US"/>
              <a:t>Click to edit Master title style</a:t>
            </a:r>
            <a:endParaRPr lang="en-US" dirty="0"/>
          </a:p>
        </p:txBody>
      </p:sp>
      <p:sp>
        <p:nvSpPr>
          <p:cNvPr id="3" name="Picture Placeholder 2"/>
          <p:cNvSpPr>
            <a:spLocks noGrp="1" noChangeAspect="1"/>
          </p:cNvSpPr>
          <p:nvPr>
            <p:ph type="pic" idx="1"/>
          </p:nvPr>
        </p:nvSpPr>
        <p:spPr>
          <a:xfrm>
            <a:off x="9329738" y="4739647"/>
            <a:ext cx="11109960" cy="23393400"/>
          </a:xfrm>
        </p:spPr>
        <p:txBody>
          <a:bodyPr anchor="t"/>
          <a:lstStyle>
            <a:lvl1pPr marL="0" indent="0">
              <a:buNone/>
              <a:defRPr sz="7680"/>
            </a:lvl1pPr>
            <a:lvl2pPr marL="1097280" indent="0">
              <a:buNone/>
              <a:defRPr sz="6720"/>
            </a:lvl2pPr>
            <a:lvl3pPr marL="2194560" indent="0">
              <a:buNone/>
              <a:defRPr sz="5760"/>
            </a:lvl3pPr>
            <a:lvl4pPr marL="3291840" indent="0">
              <a:buNone/>
              <a:defRPr sz="4800"/>
            </a:lvl4pPr>
            <a:lvl5pPr marL="4389120" indent="0">
              <a:buNone/>
              <a:defRPr sz="4800"/>
            </a:lvl5pPr>
            <a:lvl6pPr marL="5486400" indent="0">
              <a:buNone/>
              <a:defRPr sz="4800"/>
            </a:lvl6pPr>
            <a:lvl7pPr marL="6583680" indent="0">
              <a:buNone/>
              <a:defRPr sz="4800"/>
            </a:lvl7pPr>
            <a:lvl8pPr marL="7680960" indent="0">
              <a:buNone/>
              <a:defRPr sz="4800"/>
            </a:lvl8pPr>
            <a:lvl9pPr marL="8778240" indent="0">
              <a:buNone/>
              <a:defRPr sz="4800"/>
            </a:lvl9pPr>
          </a:lstStyle>
          <a:p>
            <a:r>
              <a:rPr lang="en-US"/>
              <a:t>Click icon to add picture</a:t>
            </a:r>
            <a:endParaRPr lang="en-US" dirty="0"/>
          </a:p>
        </p:txBody>
      </p:sp>
      <p:sp>
        <p:nvSpPr>
          <p:cNvPr id="4" name="Text Placeholder 3"/>
          <p:cNvSpPr>
            <a:spLocks noGrp="1"/>
          </p:cNvSpPr>
          <p:nvPr>
            <p:ph type="body" sz="half" idx="2"/>
          </p:nvPr>
        </p:nvSpPr>
        <p:spPr>
          <a:xfrm>
            <a:off x="1511619" y="9875520"/>
            <a:ext cx="7078027" cy="18295622"/>
          </a:xfrm>
        </p:spPr>
        <p:txBody>
          <a:bodyPr/>
          <a:lstStyle>
            <a:lvl1pPr marL="0" indent="0">
              <a:buNone/>
              <a:defRPr sz="3840"/>
            </a:lvl1pPr>
            <a:lvl2pPr marL="1097280" indent="0">
              <a:buNone/>
              <a:defRPr sz="3360"/>
            </a:lvl2pPr>
            <a:lvl3pPr marL="2194560" indent="0">
              <a:buNone/>
              <a:defRPr sz="2880"/>
            </a:lvl3pPr>
            <a:lvl4pPr marL="3291840" indent="0">
              <a:buNone/>
              <a:defRPr sz="2400"/>
            </a:lvl4pPr>
            <a:lvl5pPr marL="4389120" indent="0">
              <a:buNone/>
              <a:defRPr sz="2400"/>
            </a:lvl5pPr>
            <a:lvl6pPr marL="5486400" indent="0">
              <a:buNone/>
              <a:defRPr sz="2400"/>
            </a:lvl6pPr>
            <a:lvl7pPr marL="6583680" indent="0">
              <a:buNone/>
              <a:defRPr sz="2400"/>
            </a:lvl7pPr>
            <a:lvl8pPr marL="7680960" indent="0">
              <a:buNone/>
              <a:defRPr sz="2400"/>
            </a:lvl8pPr>
            <a:lvl9pPr marL="8778240" indent="0">
              <a:buNone/>
              <a:defRPr sz="2400"/>
            </a:lvl9pPr>
          </a:lstStyle>
          <a:p>
            <a:pPr lvl="0"/>
            <a:r>
              <a:rPr lang="en-US"/>
              <a:t>Click to edit Master text styles</a:t>
            </a:r>
          </a:p>
        </p:txBody>
      </p:sp>
      <p:sp>
        <p:nvSpPr>
          <p:cNvPr id="5" name="Date Placeholder 4"/>
          <p:cNvSpPr>
            <a:spLocks noGrp="1"/>
          </p:cNvSpPr>
          <p:nvPr>
            <p:ph type="dt" sz="half" idx="10"/>
          </p:nvPr>
        </p:nvSpPr>
        <p:spPr/>
        <p:txBody>
          <a:bodyPr/>
          <a:lstStyle/>
          <a:p>
            <a:fld id="{494C8A3B-F308-473F-A1C4-090B4F222883}" type="datetimeFigureOut">
              <a:rPr lang="en-US" smtClean="0"/>
              <a:t>8/27/2026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91D2D75-94A3-47B5-BE18-6EDAF605EBE6}" type="slidenum">
              <a:rPr lang="en-US" smtClean="0"/>
              <a:t>‹#›</a:t>
            </a:fld>
            <a:endParaRPr lang="en-US"/>
          </a:p>
        </p:txBody>
      </p:sp>
    </p:spTree>
    <p:extLst>
      <p:ext uri="{BB962C8B-B14F-4D97-AF65-F5344CB8AC3E}">
        <p14:creationId xmlns:p14="http://schemas.microsoft.com/office/powerpoint/2010/main" val="5146074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94C8A3B-F308-473F-A1C4-090B4F222883}"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1D2D75-94A3-47B5-BE18-6EDAF605EBE6}" type="slidenum">
              <a:rPr lang="en-US" smtClean="0"/>
              <a:t>‹#›</a:t>
            </a:fld>
            <a:endParaRPr lang="en-US"/>
          </a:p>
        </p:txBody>
      </p:sp>
    </p:spTree>
    <p:extLst>
      <p:ext uri="{BB962C8B-B14F-4D97-AF65-F5344CB8AC3E}">
        <p14:creationId xmlns:p14="http://schemas.microsoft.com/office/powerpoint/2010/main" val="39929536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704821" y="1752600"/>
            <a:ext cx="4732020" cy="2789682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508761" y="1752600"/>
            <a:ext cx="1392174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94C8A3B-F308-473F-A1C4-090B4F222883}"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1D2D75-94A3-47B5-BE18-6EDAF605EBE6}" type="slidenum">
              <a:rPr lang="en-US" smtClean="0"/>
              <a:t>‹#›</a:t>
            </a:fld>
            <a:endParaRPr lang="en-US"/>
          </a:p>
        </p:txBody>
      </p:sp>
    </p:spTree>
    <p:extLst>
      <p:ext uri="{BB962C8B-B14F-4D97-AF65-F5344CB8AC3E}">
        <p14:creationId xmlns:p14="http://schemas.microsoft.com/office/powerpoint/2010/main" val="258689890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508760" y="1752607"/>
            <a:ext cx="18928080" cy="63627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508760" y="8763000"/>
            <a:ext cx="1892808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508760" y="30510487"/>
            <a:ext cx="4937760" cy="1752600"/>
          </a:xfrm>
          <a:prstGeom prst="rect">
            <a:avLst/>
          </a:prstGeom>
        </p:spPr>
        <p:txBody>
          <a:bodyPr vert="horz" lIns="91440" tIns="45720" rIns="91440" bIns="45720" rtlCol="0" anchor="ctr"/>
          <a:lstStyle>
            <a:lvl1pPr algn="l">
              <a:defRPr sz="2880">
                <a:solidFill>
                  <a:schemeClr val="tx1">
                    <a:tint val="75000"/>
                  </a:schemeClr>
                </a:solidFill>
              </a:defRPr>
            </a:lvl1pPr>
          </a:lstStyle>
          <a:p>
            <a:fld id="{494C8A3B-F308-473F-A1C4-090B4F222883}" type="datetimeFigureOut">
              <a:rPr lang="en-US" smtClean="0"/>
              <a:t>8/27/2026</a:t>
            </a:fld>
            <a:endParaRPr lang="en-US"/>
          </a:p>
        </p:txBody>
      </p:sp>
      <p:sp>
        <p:nvSpPr>
          <p:cNvPr id="5" name="Footer Placeholder 4"/>
          <p:cNvSpPr>
            <a:spLocks noGrp="1"/>
          </p:cNvSpPr>
          <p:nvPr>
            <p:ph type="ftr" sz="quarter" idx="3"/>
          </p:nvPr>
        </p:nvSpPr>
        <p:spPr>
          <a:xfrm>
            <a:off x="7269480" y="30510487"/>
            <a:ext cx="7406640" cy="1752600"/>
          </a:xfrm>
          <a:prstGeom prst="rect">
            <a:avLst/>
          </a:prstGeom>
        </p:spPr>
        <p:txBody>
          <a:bodyPr vert="horz" lIns="91440" tIns="45720" rIns="91440" bIns="45720" rtlCol="0" anchor="ctr"/>
          <a:lstStyle>
            <a:lvl1pPr algn="ctr">
              <a:defRPr sz="288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5499080" y="30510487"/>
            <a:ext cx="4937760" cy="1752600"/>
          </a:xfrm>
          <a:prstGeom prst="rect">
            <a:avLst/>
          </a:prstGeom>
        </p:spPr>
        <p:txBody>
          <a:bodyPr vert="horz" lIns="91440" tIns="45720" rIns="91440" bIns="45720" rtlCol="0" anchor="ctr"/>
          <a:lstStyle>
            <a:lvl1pPr algn="r">
              <a:defRPr sz="2880">
                <a:solidFill>
                  <a:schemeClr val="tx1">
                    <a:tint val="75000"/>
                  </a:schemeClr>
                </a:solidFill>
              </a:defRPr>
            </a:lvl1pPr>
          </a:lstStyle>
          <a:p>
            <a:fld id="{291D2D75-94A3-47B5-BE18-6EDAF605EBE6}" type="slidenum">
              <a:rPr lang="en-US" smtClean="0"/>
              <a:t>‹#›</a:t>
            </a:fld>
            <a:endParaRPr lang="en-US"/>
          </a:p>
        </p:txBody>
      </p:sp>
    </p:spTree>
    <p:extLst>
      <p:ext uri="{BB962C8B-B14F-4D97-AF65-F5344CB8AC3E}">
        <p14:creationId xmlns:p14="http://schemas.microsoft.com/office/powerpoint/2010/main" val="1092387623"/>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2194560" rtl="0" eaLnBrk="1" latinLnBrk="0" hangingPunct="1">
        <a:lnSpc>
          <a:spcPct val="90000"/>
        </a:lnSpc>
        <a:spcBef>
          <a:spcPct val="0"/>
        </a:spcBef>
        <a:buNone/>
        <a:defRPr sz="10560" kern="1200">
          <a:solidFill>
            <a:schemeClr val="tx1"/>
          </a:solidFill>
          <a:latin typeface="+mj-lt"/>
          <a:ea typeface="+mj-ea"/>
          <a:cs typeface="+mj-cs"/>
        </a:defRPr>
      </a:lvl1pPr>
    </p:titleStyle>
    <p:bodyStyle>
      <a:lvl1pPr marL="548640" indent="-548640" algn="l" defTabSz="2194560" rtl="0" eaLnBrk="1" latinLnBrk="0" hangingPunct="1">
        <a:lnSpc>
          <a:spcPct val="90000"/>
        </a:lnSpc>
        <a:spcBef>
          <a:spcPts val="2400"/>
        </a:spcBef>
        <a:buFont typeface="Arial" panose="020B0604020202020204" pitchFamily="34" charset="0"/>
        <a:buChar char="•"/>
        <a:defRPr sz="6720" kern="1200">
          <a:solidFill>
            <a:schemeClr val="tx1"/>
          </a:solidFill>
          <a:latin typeface="+mn-lt"/>
          <a:ea typeface="+mn-ea"/>
          <a:cs typeface="+mn-cs"/>
        </a:defRPr>
      </a:lvl1pPr>
      <a:lvl2pPr marL="1645920" indent="-548640" algn="l" defTabSz="2194560" rtl="0" eaLnBrk="1" latinLnBrk="0" hangingPunct="1">
        <a:lnSpc>
          <a:spcPct val="90000"/>
        </a:lnSpc>
        <a:spcBef>
          <a:spcPts val="1200"/>
        </a:spcBef>
        <a:buFont typeface="Arial" panose="020B0604020202020204" pitchFamily="34" charset="0"/>
        <a:buChar char="•"/>
        <a:defRPr sz="5760" kern="1200">
          <a:solidFill>
            <a:schemeClr val="tx1"/>
          </a:solidFill>
          <a:latin typeface="+mn-lt"/>
          <a:ea typeface="+mn-ea"/>
          <a:cs typeface="+mn-cs"/>
        </a:defRPr>
      </a:lvl2pPr>
      <a:lvl3pPr marL="2743200" indent="-548640" algn="l" defTabSz="2194560" rtl="0" eaLnBrk="1" latinLnBrk="0" hangingPunct="1">
        <a:lnSpc>
          <a:spcPct val="90000"/>
        </a:lnSpc>
        <a:spcBef>
          <a:spcPts val="1200"/>
        </a:spcBef>
        <a:buFont typeface="Arial" panose="020B0604020202020204" pitchFamily="34" charset="0"/>
        <a:buChar char="•"/>
        <a:defRPr sz="4800" kern="1200">
          <a:solidFill>
            <a:schemeClr val="tx1"/>
          </a:solidFill>
          <a:latin typeface="+mn-lt"/>
          <a:ea typeface="+mn-ea"/>
          <a:cs typeface="+mn-cs"/>
        </a:defRPr>
      </a:lvl3pPr>
      <a:lvl4pPr marL="3840480" indent="-548640" algn="l" defTabSz="2194560" rtl="0" eaLnBrk="1" latinLnBrk="0" hangingPunct="1">
        <a:lnSpc>
          <a:spcPct val="90000"/>
        </a:lnSpc>
        <a:spcBef>
          <a:spcPts val="1200"/>
        </a:spcBef>
        <a:buFont typeface="Arial" panose="020B0604020202020204" pitchFamily="34" charset="0"/>
        <a:buChar char="•"/>
        <a:defRPr sz="4320" kern="1200">
          <a:solidFill>
            <a:schemeClr val="tx1"/>
          </a:solidFill>
          <a:latin typeface="+mn-lt"/>
          <a:ea typeface="+mn-ea"/>
          <a:cs typeface="+mn-cs"/>
        </a:defRPr>
      </a:lvl4pPr>
      <a:lvl5pPr marL="4937760" indent="-548640" algn="l" defTabSz="2194560" rtl="0" eaLnBrk="1" latinLnBrk="0" hangingPunct="1">
        <a:lnSpc>
          <a:spcPct val="90000"/>
        </a:lnSpc>
        <a:spcBef>
          <a:spcPts val="1200"/>
        </a:spcBef>
        <a:buFont typeface="Arial" panose="020B0604020202020204" pitchFamily="34" charset="0"/>
        <a:buChar char="•"/>
        <a:defRPr sz="4320" kern="1200">
          <a:solidFill>
            <a:schemeClr val="tx1"/>
          </a:solidFill>
          <a:latin typeface="+mn-lt"/>
          <a:ea typeface="+mn-ea"/>
          <a:cs typeface="+mn-cs"/>
        </a:defRPr>
      </a:lvl5pPr>
      <a:lvl6pPr marL="6035040" indent="-548640" algn="l" defTabSz="2194560" rtl="0" eaLnBrk="1" latinLnBrk="0" hangingPunct="1">
        <a:lnSpc>
          <a:spcPct val="90000"/>
        </a:lnSpc>
        <a:spcBef>
          <a:spcPts val="1200"/>
        </a:spcBef>
        <a:buFont typeface="Arial" panose="020B0604020202020204" pitchFamily="34" charset="0"/>
        <a:buChar char="•"/>
        <a:defRPr sz="4320" kern="1200">
          <a:solidFill>
            <a:schemeClr val="tx1"/>
          </a:solidFill>
          <a:latin typeface="+mn-lt"/>
          <a:ea typeface="+mn-ea"/>
          <a:cs typeface="+mn-cs"/>
        </a:defRPr>
      </a:lvl6pPr>
      <a:lvl7pPr marL="7132320" indent="-548640" algn="l" defTabSz="2194560" rtl="0" eaLnBrk="1" latinLnBrk="0" hangingPunct="1">
        <a:lnSpc>
          <a:spcPct val="90000"/>
        </a:lnSpc>
        <a:spcBef>
          <a:spcPts val="1200"/>
        </a:spcBef>
        <a:buFont typeface="Arial" panose="020B0604020202020204" pitchFamily="34" charset="0"/>
        <a:buChar char="•"/>
        <a:defRPr sz="4320" kern="1200">
          <a:solidFill>
            <a:schemeClr val="tx1"/>
          </a:solidFill>
          <a:latin typeface="+mn-lt"/>
          <a:ea typeface="+mn-ea"/>
          <a:cs typeface="+mn-cs"/>
        </a:defRPr>
      </a:lvl7pPr>
      <a:lvl8pPr marL="8229600" indent="-548640" algn="l" defTabSz="2194560" rtl="0" eaLnBrk="1" latinLnBrk="0" hangingPunct="1">
        <a:lnSpc>
          <a:spcPct val="90000"/>
        </a:lnSpc>
        <a:spcBef>
          <a:spcPts val="1200"/>
        </a:spcBef>
        <a:buFont typeface="Arial" panose="020B0604020202020204" pitchFamily="34" charset="0"/>
        <a:buChar char="•"/>
        <a:defRPr sz="4320" kern="1200">
          <a:solidFill>
            <a:schemeClr val="tx1"/>
          </a:solidFill>
          <a:latin typeface="+mn-lt"/>
          <a:ea typeface="+mn-ea"/>
          <a:cs typeface="+mn-cs"/>
        </a:defRPr>
      </a:lvl8pPr>
      <a:lvl9pPr marL="9326880" indent="-548640" algn="l" defTabSz="2194560" rtl="0" eaLnBrk="1" latinLnBrk="0" hangingPunct="1">
        <a:lnSpc>
          <a:spcPct val="90000"/>
        </a:lnSpc>
        <a:spcBef>
          <a:spcPts val="1200"/>
        </a:spcBef>
        <a:buFont typeface="Arial" panose="020B0604020202020204" pitchFamily="34" charset="0"/>
        <a:buChar char="•"/>
        <a:defRPr sz="4320" kern="1200">
          <a:solidFill>
            <a:schemeClr val="tx1"/>
          </a:solidFill>
          <a:latin typeface="+mn-lt"/>
          <a:ea typeface="+mn-ea"/>
          <a:cs typeface="+mn-cs"/>
        </a:defRPr>
      </a:lvl9pPr>
    </p:bodyStyle>
    <p:otherStyle>
      <a:defPPr>
        <a:defRPr lang="en-US"/>
      </a:defPPr>
      <a:lvl1pPr marL="0" algn="l" defTabSz="2194560" rtl="0" eaLnBrk="1" latinLnBrk="0" hangingPunct="1">
        <a:defRPr sz="4320" kern="1200">
          <a:solidFill>
            <a:schemeClr val="tx1"/>
          </a:solidFill>
          <a:latin typeface="+mn-lt"/>
          <a:ea typeface="+mn-ea"/>
          <a:cs typeface="+mn-cs"/>
        </a:defRPr>
      </a:lvl1pPr>
      <a:lvl2pPr marL="1097280" algn="l" defTabSz="2194560" rtl="0" eaLnBrk="1" latinLnBrk="0" hangingPunct="1">
        <a:defRPr sz="4320" kern="1200">
          <a:solidFill>
            <a:schemeClr val="tx1"/>
          </a:solidFill>
          <a:latin typeface="+mn-lt"/>
          <a:ea typeface="+mn-ea"/>
          <a:cs typeface="+mn-cs"/>
        </a:defRPr>
      </a:lvl2pPr>
      <a:lvl3pPr marL="2194560" algn="l" defTabSz="2194560" rtl="0" eaLnBrk="1" latinLnBrk="0" hangingPunct="1">
        <a:defRPr sz="4320" kern="1200">
          <a:solidFill>
            <a:schemeClr val="tx1"/>
          </a:solidFill>
          <a:latin typeface="+mn-lt"/>
          <a:ea typeface="+mn-ea"/>
          <a:cs typeface="+mn-cs"/>
        </a:defRPr>
      </a:lvl3pPr>
      <a:lvl4pPr marL="3291840" algn="l" defTabSz="2194560" rtl="0" eaLnBrk="1" latinLnBrk="0" hangingPunct="1">
        <a:defRPr sz="4320" kern="1200">
          <a:solidFill>
            <a:schemeClr val="tx1"/>
          </a:solidFill>
          <a:latin typeface="+mn-lt"/>
          <a:ea typeface="+mn-ea"/>
          <a:cs typeface="+mn-cs"/>
        </a:defRPr>
      </a:lvl4pPr>
      <a:lvl5pPr marL="4389120" algn="l" defTabSz="2194560" rtl="0" eaLnBrk="1" latinLnBrk="0" hangingPunct="1">
        <a:defRPr sz="4320" kern="1200">
          <a:solidFill>
            <a:schemeClr val="tx1"/>
          </a:solidFill>
          <a:latin typeface="+mn-lt"/>
          <a:ea typeface="+mn-ea"/>
          <a:cs typeface="+mn-cs"/>
        </a:defRPr>
      </a:lvl5pPr>
      <a:lvl6pPr marL="5486400" algn="l" defTabSz="2194560" rtl="0" eaLnBrk="1" latinLnBrk="0" hangingPunct="1">
        <a:defRPr sz="4320" kern="1200">
          <a:solidFill>
            <a:schemeClr val="tx1"/>
          </a:solidFill>
          <a:latin typeface="+mn-lt"/>
          <a:ea typeface="+mn-ea"/>
          <a:cs typeface="+mn-cs"/>
        </a:defRPr>
      </a:lvl6pPr>
      <a:lvl7pPr marL="6583680" algn="l" defTabSz="2194560" rtl="0" eaLnBrk="1" latinLnBrk="0" hangingPunct="1">
        <a:defRPr sz="4320" kern="1200">
          <a:solidFill>
            <a:schemeClr val="tx1"/>
          </a:solidFill>
          <a:latin typeface="+mn-lt"/>
          <a:ea typeface="+mn-ea"/>
          <a:cs typeface="+mn-cs"/>
        </a:defRPr>
      </a:lvl7pPr>
      <a:lvl8pPr marL="7680960" algn="l" defTabSz="2194560" rtl="0" eaLnBrk="1" latinLnBrk="0" hangingPunct="1">
        <a:defRPr sz="4320" kern="1200">
          <a:solidFill>
            <a:schemeClr val="tx1"/>
          </a:solidFill>
          <a:latin typeface="+mn-lt"/>
          <a:ea typeface="+mn-ea"/>
          <a:cs typeface="+mn-cs"/>
        </a:defRPr>
      </a:lvl8pPr>
      <a:lvl9pPr marL="8778240" algn="l" defTabSz="2194560" rtl="0" eaLnBrk="1" latinLnBrk="0" hangingPunct="1">
        <a:defRPr sz="432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emf"/><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2F0D9"/>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D3DF3914-160B-4294-A01A-8CB9C6320C14}"/>
              </a:ext>
            </a:extLst>
          </p:cNvPr>
          <p:cNvSpPr/>
          <p:nvPr/>
        </p:nvSpPr>
        <p:spPr>
          <a:xfrm>
            <a:off x="0" y="0"/>
            <a:ext cx="21945600" cy="2992582"/>
          </a:xfrm>
          <a:prstGeom prst="rect">
            <a:avLst/>
          </a:prstGeom>
          <a:gradFill flip="none" rotWithShape="1">
            <a:gsLst>
              <a:gs pos="0">
                <a:srgbClr val="007C3F">
                  <a:shade val="30000"/>
                  <a:satMod val="115000"/>
                </a:srgbClr>
              </a:gs>
              <a:gs pos="50000">
                <a:srgbClr val="007C3F">
                  <a:shade val="67500"/>
                  <a:satMod val="115000"/>
                </a:srgbClr>
              </a:gs>
              <a:gs pos="100000">
                <a:srgbClr val="007C3F">
                  <a:shade val="100000"/>
                  <a:satMod val="115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5552" dirty="0"/>
          </a:p>
        </p:txBody>
      </p:sp>
      <p:pic>
        <p:nvPicPr>
          <p:cNvPr id="3" name="Picture 2">
            <a:extLst>
              <a:ext uri="{FF2B5EF4-FFF2-40B4-BE49-F238E27FC236}">
                <a16:creationId xmlns:a16="http://schemas.microsoft.com/office/drawing/2014/main" id="{45A4D62C-A0AF-1588-FBCB-9DDB258E4DCE}"/>
              </a:ext>
            </a:extLst>
          </p:cNvPr>
          <p:cNvPicPr>
            <a:picLocks noChangeAspect="1"/>
          </p:cNvPicPr>
          <p:nvPr/>
        </p:nvPicPr>
        <p:blipFill>
          <a:blip r:embed="rId2">
            <a:extLst>
              <a:ext uri="{28A0092B-C50C-407E-A947-70E740481C1C}">
                <a14:useLocalDpi xmlns:a14="http://schemas.microsoft.com/office/drawing/2010/main" val="0"/>
              </a:ext>
            </a:extLst>
          </a:blip>
          <a:srcRect l="11131" t="24840" r="21220" b="45394"/>
          <a:stretch>
            <a:fillRect/>
          </a:stretch>
        </p:blipFill>
        <p:spPr>
          <a:xfrm>
            <a:off x="17647920" y="694944"/>
            <a:ext cx="3639312" cy="1609344"/>
          </a:xfrm>
          <a:prstGeom prst="rect">
            <a:avLst/>
          </a:prstGeom>
        </p:spPr>
      </p:pic>
      <p:sp>
        <p:nvSpPr>
          <p:cNvPr id="5" name="TextBox 4">
            <a:extLst>
              <a:ext uri="{FF2B5EF4-FFF2-40B4-BE49-F238E27FC236}">
                <a16:creationId xmlns:a16="http://schemas.microsoft.com/office/drawing/2014/main" id="{2463AD17-9174-F810-F5B9-7772E0A9FDBB}"/>
              </a:ext>
            </a:extLst>
          </p:cNvPr>
          <p:cNvSpPr txBox="1"/>
          <p:nvPr/>
        </p:nvSpPr>
        <p:spPr>
          <a:xfrm>
            <a:off x="476250" y="397334"/>
            <a:ext cx="16824960" cy="2051844"/>
          </a:xfrm>
          <a:prstGeom prst="rect">
            <a:avLst/>
          </a:prstGeom>
          <a:noFill/>
        </p:spPr>
        <p:txBody>
          <a:bodyPr wrap="square">
            <a:spAutoFit/>
          </a:bodyPr>
          <a:lstStyle/>
          <a:p>
            <a:pPr marL="12700" marR="0">
              <a:lnSpc>
                <a:spcPct val="100000"/>
              </a:lnSpc>
              <a:buNone/>
            </a:pPr>
            <a:r>
              <a:rPr lang="en-US" sz="4200" b="1" dirty="0">
                <a:solidFill>
                  <a:schemeClr val="bg1"/>
                </a:solidFill>
                <a:effectLst/>
                <a:latin typeface="+mn-lt"/>
                <a:ea typeface="Arial" panose="020B0604020202020204" pitchFamily="34" charset="0"/>
              </a:rPr>
              <a:t>Robustness or Weighting? Re-Evaluating Federated Aggregation on Heterogeneous Health Data</a:t>
            </a:r>
            <a:endParaRPr lang="en-US" sz="6000" dirty="0">
              <a:solidFill>
                <a:schemeClr val="bg1"/>
              </a:solidFill>
              <a:effectLst/>
              <a:latin typeface="+mn-lt"/>
              <a:ea typeface="Arial" panose="020B0604020202020204" pitchFamily="34" charset="0"/>
            </a:endParaRPr>
          </a:p>
          <a:p>
            <a:pPr marL="12700" marR="0">
              <a:spcBef>
                <a:spcPts val="75"/>
              </a:spcBef>
              <a:buNone/>
            </a:pPr>
            <a:r>
              <a:rPr lang="en-US" sz="2800" b="1" dirty="0">
                <a:solidFill>
                  <a:schemeClr val="bg1"/>
                </a:solidFill>
                <a:effectLst/>
                <a:latin typeface="+mn-lt"/>
                <a:ea typeface="Arial" panose="020B0604020202020204" pitchFamily="34" charset="0"/>
              </a:rPr>
              <a:t>Kunal Chevuri and Dr. Mohammed Aledhari</a:t>
            </a:r>
            <a:endParaRPr lang="en-US" sz="3200" dirty="0">
              <a:solidFill>
                <a:schemeClr val="bg1"/>
              </a:solidFill>
              <a:effectLst/>
              <a:latin typeface="+mn-lt"/>
              <a:ea typeface="Arial" panose="020B0604020202020204" pitchFamily="34" charset="0"/>
            </a:endParaRPr>
          </a:p>
          <a:p>
            <a:pPr marL="12700" marR="0">
              <a:spcBef>
                <a:spcPts val="260"/>
              </a:spcBef>
              <a:buNone/>
            </a:pPr>
            <a:r>
              <a:rPr lang="en-US" sz="2400" b="1" dirty="0">
                <a:solidFill>
                  <a:schemeClr val="bg1"/>
                </a:solidFill>
                <a:effectLst/>
                <a:latin typeface="+mn-lt"/>
                <a:ea typeface="Arial" panose="020B0604020202020204" pitchFamily="34" charset="0"/>
              </a:rPr>
              <a:t>Data Science Department</a:t>
            </a:r>
            <a:endParaRPr lang="en-US" dirty="0">
              <a:solidFill>
                <a:schemeClr val="bg1"/>
              </a:solidFill>
              <a:effectLst/>
              <a:latin typeface="Arial" panose="020B0604020202020204" pitchFamily="34" charset="0"/>
              <a:ea typeface="Arial" panose="020B0604020202020204" pitchFamily="34" charset="0"/>
            </a:endParaRPr>
          </a:p>
          <a:p>
            <a:pPr marL="12700" marR="0">
              <a:spcBef>
                <a:spcPts val="260"/>
              </a:spcBef>
              <a:buNone/>
            </a:pPr>
            <a:r>
              <a:rPr lang="en-US" sz="2400" b="1" dirty="0">
                <a:solidFill>
                  <a:schemeClr val="bg1"/>
                </a:solidFill>
                <a:effectLst/>
                <a:latin typeface="+mn-lt"/>
                <a:ea typeface="Arial" panose="020B0604020202020204" pitchFamily="34" charset="0"/>
              </a:rPr>
              <a:t>College of Artificial Intelligence and Advanced Analytics  ·  University of North Texas</a:t>
            </a:r>
            <a:endParaRPr lang="en-US" dirty="0">
              <a:solidFill>
                <a:schemeClr val="bg1"/>
              </a:solidFill>
              <a:effectLst/>
              <a:latin typeface="Arial" panose="020B0604020202020204" pitchFamily="34" charset="0"/>
              <a:ea typeface="Arial" panose="020B0604020202020204" pitchFamily="34" charset="0"/>
            </a:endParaRPr>
          </a:p>
        </p:txBody>
      </p:sp>
      <p:sp>
        <p:nvSpPr>
          <p:cNvPr id="16" name="Rectangle 15">
            <a:extLst>
              <a:ext uri="{FF2B5EF4-FFF2-40B4-BE49-F238E27FC236}">
                <a16:creationId xmlns:a16="http://schemas.microsoft.com/office/drawing/2014/main" id="{D3DF3914-160B-4294-A01A-8CB9C6320C14}"/>
              </a:ext>
            </a:extLst>
          </p:cNvPr>
          <p:cNvSpPr/>
          <p:nvPr/>
        </p:nvSpPr>
        <p:spPr>
          <a:xfrm>
            <a:off x="0" y="31455360"/>
            <a:ext cx="21945600" cy="1463040"/>
          </a:xfrm>
          <a:prstGeom prst="rect">
            <a:avLst/>
          </a:prstGeom>
          <a:gradFill flip="none" rotWithShape="1">
            <a:gsLst>
              <a:gs pos="0">
                <a:srgbClr val="007C3F">
                  <a:shade val="30000"/>
                  <a:satMod val="115000"/>
                </a:srgbClr>
              </a:gs>
              <a:gs pos="50000">
                <a:srgbClr val="007C3F">
                  <a:shade val="67500"/>
                  <a:satMod val="115000"/>
                </a:srgbClr>
              </a:gs>
              <a:gs pos="100000">
                <a:srgbClr val="007C3F">
                  <a:shade val="100000"/>
                  <a:satMod val="115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5552" dirty="0"/>
          </a:p>
        </p:txBody>
      </p:sp>
      <p:sp>
        <p:nvSpPr>
          <p:cNvPr id="17" name="Rectangle 16"/>
          <p:cNvSpPr/>
          <p:nvPr/>
        </p:nvSpPr>
        <p:spPr>
          <a:xfrm>
            <a:off x="548640" y="3310128"/>
            <a:ext cx="6638544" cy="713232"/>
          </a:xfrm>
          <a:prstGeom prst="rect">
            <a:avLst/>
          </a:prstGeom>
          <a:solidFill>
            <a:srgbClr val="0074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r>
              <a:rPr sz="2500" b="1">
                <a:solidFill>
                  <a:srgbClr val="FFFFFF"/>
                </a:solidFill>
                <a:latin typeface="Calibri"/>
              </a:rPr>
              <a:t>Motivation &amp; Questions</a:t>
            </a:r>
          </a:p>
        </p:txBody>
      </p:sp>
      <p:sp>
        <p:nvSpPr>
          <p:cNvPr id="18" name="TextBox 17"/>
          <p:cNvSpPr txBox="1"/>
          <p:nvPr/>
        </p:nvSpPr>
        <p:spPr>
          <a:xfrm>
            <a:off x="548640" y="4133088"/>
            <a:ext cx="6638544" cy="4526715"/>
          </a:xfrm>
          <a:prstGeom prst="rect">
            <a:avLst/>
          </a:prstGeom>
          <a:noFill/>
        </p:spPr>
        <p:txBody>
          <a:bodyPr wrap="square" lIns="54864" rIns="0" tIns="0" bIns="0">
            <a:spAutoFit/>
          </a:bodyPr>
          <a:lstStyle/>
          <a:p>
            <a:pPr indent="-215900" marL="215900">
              <a:spcBef>
                <a:spcPts val="0"/>
              </a:spcBef>
              <a:spcAft>
                <a:spcPts val="800"/>
              </a:spcAft>
              <a:buFont typeface="Arial"/>
              <a:buChar char="•"/>
            </a:pPr>
            <a:r>
              <a:rPr sz="1900" i="0">
                <a:solidFill>
                  <a:srgbClr val="1A1A1A"/>
                </a:solidFill>
                <a:latin typeface="Calibri"/>
              </a:rPr>
              <a:t>Hospitals and health agencies hold records that could sharpen how we predict disease, but privacy law stops them pooling the data.</a:t>
            </a:r>
          </a:p>
          <a:p>
            <a:pPr indent="-215900" marL="215900">
              <a:spcBef>
                <a:spcPts val="0"/>
              </a:spcBef>
              <a:spcAft>
                <a:spcPts val="800"/>
              </a:spcAft>
              <a:buFont typeface="Arial"/>
              <a:buChar char="•"/>
            </a:pPr>
            <a:r>
              <a:rPr sz="1900" i="0">
                <a:solidFill>
                  <a:srgbClr val="1A1A1A"/>
                </a:solidFill>
                <a:latin typeface="Calibri"/>
              </a:rPr>
              <a:t>Federated learning trains one shared model without moving any patient record out of the institution holding it.</a:t>
            </a:r>
          </a:p>
          <a:p>
            <a:pPr indent="-215900" marL="215900">
              <a:spcBef>
                <a:spcPts val="0"/>
              </a:spcBef>
              <a:spcAft>
                <a:spcPts val="800"/>
              </a:spcAft>
              <a:buFont typeface="Arial"/>
              <a:buChar char="•"/>
            </a:pPr>
            <a:r>
              <a:rPr sz="1900" i="0">
                <a:solidFill>
                  <a:srgbClr val="1A1A1A"/>
                </a:solidFill>
                <a:latin typeface="Calibri"/>
              </a:rPr>
              <a:t>The rule that merges each site's work is normally chosen for its robustness to noisy or unusual sites.</a:t>
            </a:r>
          </a:p>
          <a:p>
            <a:pPr indent="-215900" marL="215900">
              <a:spcBef>
                <a:spcPts val="0"/>
              </a:spcBef>
              <a:spcAft>
                <a:spcPts val="800"/>
              </a:spcAft>
              <a:buFont typeface="Arial"/>
              <a:buChar char="•"/>
            </a:pPr>
            <a:r>
              <a:rPr sz="1900" i="0">
                <a:solidFill>
                  <a:srgbClr val="1A1A1A"/>
                </a:solidFill>
                <a:latin typeface="Calibri"/>
              </a:rPr>
              <a:t>Robust rules are scored against FedAvg, which weights each site by how much data it holds -- and they discard that weighting entirely, so two things change at once and nobody had separated them.</a:t>
            </a:r>
          </a:p>
          <a:p>
            <a:pPr indent="-215900" marL="215900">
              <a:spcBef>
                <a:spcPts val="0"/>
              </a:spcBef>
              <a:spcAft>
                <a:spcPts val="800"/>
              </a:spcAft>
              <a:buFont typeface="Arial"/>
              <a:buChar char="•"/>
            </a:pPr>
            <a:r>
              <a:rPr sz="1900" i="0">
                <a:solidFill>
                  <a:srgbClr val="1A1A1A"/>
                </a:solidFill>
                <a:latin typeface="Calibri"/>
              </a:rPr>
              <a:t>We ask: when a robust rule wins, is it the robust statistic winning, or just the end of the loudest vote?</a:t>
            </a:r>
          </a:p>
        </p:txBody>
      </p:sp>
      <p:sp>
        <p:nvSpPr>
          <p:cNvPr id="19" name="Rectangle 18"/>
          <p:cNvSpPr/>
          <p:nvPr/>
        </p:nvSpPr>
        <p:spPr>
          <a:xfrm>
            <a:off x="548640" y="8914384"/>
            <a:ext cx="6638544" cy="713232"/>
          </a:xfrm>
          <a:prstGeom prst="rect">
            <a:avLst/>
          </a:prstGeom>
          <a:solidFill>
            <a:srgbClr val="0074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r>
              <a:rPr sz="2500" b="1">
                <a:solidFill>
                  <a:srgbClr val="FFFFFF"/>
                </a:solidFill>
                <a:latin typeface="Calibri"/>
              </a:rPr>
              <a:t>Background: how federated learning works</a:t>
            </a:r>
          </a:p>
        </p:txBody>
      </p:sp>
      <p:sp>
        <p:nvSpPr>
          <p:cNvPr id="20" name="TextBox 19"/>
          <p:cNvSpPr txBox="1"/>
          <p:nvPr/>
        </p:nvSpPr>
        <p:spPr>
          <a:xfrm>
            <a:off x="548640" y="9737343"/>
            <a:ext cx="6638544" cy="1095973"/>
          </a:xfrm>
          <a:prstGeom prst="rect">
            <a:avLst/>
          </a:prstGeom>
          <a:noFill/>
        </p:spPr>
        <p:txBody>
          <a:bodyPr wrap="square" lIns="54864" rIns="0" tIns="0" bIns="0">
            <a:spAutoFit/>
          </a:bodyPr>
          <a:lstStyle/>
          <a:p>
            <a:pPr indent="-215900" marL="215900">
              <a:spcBef>
                <a:spcPts val="0"/>
              </a:spcBef>
              <a:spcAft>
                <a:spcPts val="800"/>
              </a:spcAft>
              <a:buFont typeface="Arial"/>
              <a:buChar char="•"/>
            </a:pPr>
            <a:r>
              <a:rPr sz="1900" i="0">
                <a:solidFill>
                  <a:srgbClr val="1A1A1A"/>
                </a:solidFill>
                <a:latin typeface="Calibri"/>
              </a:rPr>
              <a:t>Each site trains on its own data and sends only the model update -- no patient record ever leaves the institution holding it.</a:t>
            </a:r>
          </a:p>
        </p:txBody>
      </p:sp>
      <p:pic>
        <p:nvPicPr>
          <p:cNvPr id="21" name="Picture 20" descr="posterD_federated.png"/>
          <p:cNvPicPr>
            <a:picLocks noChangeAspect="1"/>
          </p:cNvPicPr>
          <p:nvPr/>
        </p:nvPicPr>
        <p:blipFill>
          <a:blip r:embed="rId4"/>
          <a:stretch>
            <a:fillRect/>
          </a:stretch>
        </p:blipFill>
        <p:spPr>
          <a:xfrm>
            <a:off x="548640" y="11087898"/>
            <a:ext cx="6638544" cy="3611880"/>
          </a:xfrm>
          <a:prstGeom prst="rect">
            <a:avLst/>
          </a:prstGeom>
        </p:spPr>
      </p:pic>
      <p:sp>
        <p:nvSpPr>
          <p:cNvPr id="22" name="TextBox 21"/>
          <p:cNvSpPr txBox="1"/>
          <p:nvPr/>
        </p:nvSpPr>
        <p:spPr>
          <a:xfrm>
            <a:off x="548640" y="14791218"/>
            <a:ext cx="6638544" cy="1142346"/>
          </a:xfrm>
          <a:prstGeom prst="rect">
            <a:avLst/>
          </a:prstGeom>
          <a:noFill/>
        </p:spPr>
        <p:txBody>
          <a:bodyPr wrap="square" lIns="54864" rIns="0" tIns="0" bIns="0">
            <a:spAutoFit/>
          </a:bodyPr>
          <a:lstStyle/>
          <a:p>
            <a:pPr>
              <a:spcBef>
                <a:spcPts val="0"/>
              </a:spcBef>
              <a:spcAft>
                <a:spcPts val="800"/>
              </a:spcAft>
            </a:pPr>
            <a:r>
              <a:rPr sz="1500" i="0">
                <a:solidFill>
                  <a:srgbClr val="333333"/>
                </a:solidFill>
                <a:latin typeface="Calibri"/>
              </a:rPr>
              <a:t>Figure 1. One training round, run two ways. The same 20 sites send the same updates; only the merge rule differs. FedAvg hands the largest site 34.8% of the vote, the control gives every site 5% -- worth +0.172 AUC on its own.</a:t>
            </a:r>
          </a:p>
        </p:txBody>
      </p:sp>
      <p:sp>
        <p:nvSpPr>
          <p:cNvPr id="23" name="Rectangle 22"/>
          <p:cNvSpPr/>
          <p:nvPr/>
        </p:nvSpPr>
        <p:spPr>
          <a:xfrm>
            <a:off x="548640" y="16188145"/>
            <a:ext cx="6638544" cy="713232"/>
          </a:xfrm>
          <a:prstGeom prst="rect">
            <a:avLst/>
          </a:prstGeom>
          <a:solidFill>
            <a:srgbClr val="0074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r>
              <a:rPr sz="2500" b="1">
                <a:solidFill>
                  <a:srgbClr val="FFFFFF"/>
                </a:solidFill>
                <a:latin typeface="Calibri"/>
              </a:rPr>
              <a:t>Dataset: two health datasets, split 20 ways</a:t>
            </a:r>
          </a:p>
        </p:txBody>
      </p:sp>
      <p:sp>
        <p:nvSpPr>
          <p:cNvPr id="24" name="TextBox 23"/>
          <p:cNvSpPr txBox="1"/>
          <p:nvPr/>
        </p:nvSpPr>
        <p:spPr>
          <a:xfrm>
            <a:off x="548640" y="17011105"/>
            <a:ext cx="6638544" cy="2517648"/>
          </a:xfrm>
          <a:prstGeom prst="rect">
            <a:avLst/>
          </a:prstGeom>
          <a:noFill/>
        </p:spPr>
        <p:txBody>
          <a:bodyPr wrap="square" lIns="54864" rIns="0" tIns="0" bIns="0">
            <a:spAutoFit/>
          </a:bodyPr>
          <a:lstStyle/>
          <a:p>
            <a:pPr indent="-215900" marL="215900">
              <a:spcBef>
                <a:spcPts val="0"/>
              </a:spcBef>
              <a:spcAft>
                <a:spcPts val="800"/>
              </a:spcAft>
              <a:buFont typeface="Arial"/>
              <a:buChar char="•"/>
            </a:pPr>
            <a:r>
              <a:rPr sz="1900" i="0">
                <a:solidFill>
                  <a:srgbClr val="1A1A1A"/>
                </a:solidFill>
                <a:latin typeface="Calibri"/>
              </a:rPr>
              <a:t>CDC BRFSS 2023: 382,709 U.S. adults, predicting self-reported depression, which 20.7% of respondents report.</a:t>
            </a:r>
          </a:p>
          <a:p>
            <a:pPr indent="-215900" marL="215900">
              <a:spcBef>
                <a:spcPts val="0"/>
              </a:spcBef>
              <a:spcAft>
                <a:spcPts val="800"/>
              </a:spcAft>
              <a:buFont typeface="Arial"/>
              <a:buChar char="•"/>
            </a:pPr>
            <a:r>
              <a:rPr sz="1900" i="0">
                <a:solidFill>
                  <a:srgbClr val="1A1A1A"/>
                </a:solidFill>
                <a:latin typeface="Calibri"/>
              </a:rPr>
              <a:t>UCI Breast Cancer Wisconsin runs alongside as a clean clinical benchmark.</a:t>
            </a:r>
          </a:p>
          <a:p>
            <a:pPr indent="-215900" marL="215900">
              <a:spcBef>
                <a:spcPts val="0"/>
              </a:spcBef>
              <a:spcAft>
                <a:spcPts val="800"/>
              </a:spcAft>
              <a:buFont typeface="Arial"/>
              <a:buChar char="•"/>
            </a:pPr>
            <a:r>
              <a:rPr sz="1900" i="0">
                <a:solidFill>
                  <a:srgbClr val="1A1A1A"/>
                </a:solidFill>
                <a:latin typeface="Calibri"/>
              </a:rPr>
              <a:t>Each dataset is dealt to 20 simulated sites by Dirichlet partitioning, whose dial alpha sets how lopsided the split is.</a:t>
            </a:r>
          </a:p>
        </p:txBody>
      </p:sp>
      <p:pic>
        <p:nvPicPr>
          <p:cNvPr id="25" name="Picture 24" descr="posterF_partition.png"/>
          <p:cNvPicPr>
            <a:picLocks noChangeAspect="1"/>
          </p:cNvPicPr>
          <p:nvPr/>
        </p:nvPicPr>
        <p:blipFill>
          <a:blip r:embed="rId5"/>
          <a:stretch>
            <a:fillRect/>
          </a:stretch>
        </p:blipFill>
        <p:spPr>
          <a:xfrm>
            <a:off x="548640" y="19783334"/>
            <a:ext cx="6638544" cy="4572000"/>
          </a:xfrm>
          <a:prstGeom prst="rect">
            <a:avLst/>
          </a:prstGeom>
        </p:spPr>
      </p:pic>
      <p:sp>
        <p:nvSpPr>
          <p:cNvPr id="26" name="TextBox 25"/>
          <p:cNvSpPr txBox="1"/>
          <p:nvPr/>
        </p:nvSpPr>
        <p:spPr>
          <a:xfrm>
            <a:off x="548640" y="24446774"/>
            <a:ext cx="6638544" cy="1142346"/>
          </a:xfrm>
          <a:prstGeom prst="rect">
            <a:avLst/>
          </a:prstGeom>
          <a:noFill/>
        </p:spPr>
        <p:txBody>
          <a:bodyPr wrap="square" lIns="54864" rIns="0" tIns="0" bIns="0">
            <a:spAutoFit/>
          </a:bodyPr>
          <a:lstStyle/>
          <a:p>
            <a:pPr>
              <a:spcBef>
                <a:spcPts val="0"/>
              </a:spcBef>
              <a:spcAft>
                <a:spcPts val="800"/>
              </a:spcAft>
            </a:pPr>
            <a:r>
              <a:rPr sz="1500" i="0">
                <a:solidFill>
                  <a:srgbClr val="333333"/>
                </a:solidFill>
                <a:latin typeface="Calibri"/>
              </a:rPr>
              <a:t>Figure 2. How the training data is dealt across 20 sites. At alpha = 0.1 one site holds 34.8% of it and two sites get none; at alpha = 1.0 the split is mild. This skew is what gives FedAvg's size-weighting something to get wrong.</a:t>
            </a:r>
          </a:p>
        </p:txBody>
      </p:sp>
      <p:sp>
        <p:nvSpPr>
          <p:cNvPr id="27" name="Rectangle 26"/>
          <p:cNvSpPr/>
          <p:nvPr/>
        </p:nvSpPr>
        <p:spPr>
          <a:xfrm>
            <a:off x="548640" y="25843701"/>
            <a:ext cx="6638544" cy="713232"/>
          </a:xfrm>
          <a:prstGeom prst="rect">
            <a:avLst/>
          </a:prstGeom>
          <a:solidFill>
            <a:srgbClr val="0074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r>
              <a:rPr sz="2500" b="1">
                <a:solidFill>
                  <a:srgbClr val="FFFFFF"/>
                </a:solidFill>
                <a:latin typeface="Calibri"/>
              </a:rPr>
              <a:t>References</a:t>
            </a:r>
          </a:p>
        </p:txBody>
      </p:sp>
      <p:sp>
        <p:nvSpPr>
          <p:cNvPr id="28" name="TextBox 27"/>
          <p:cNvSpPr txBox="1"/>
          <p:nvPr/>
        </p:nvSpPr>
        <p:spPr>
          <a:xfrm>
            <a:off x="548640" y="26666661"/>
            <a:ext cx="6638544" cy="3985477"/>
          </a:xfrm>
          <a:prstGeom prst="rect">
            <a:avLst/>
          </a:prstGeom>
          <a:noFill/>
        </p:spPr>
        <p:txBody>
          <a:bodyPr wrap="square" lIns="54864" rIns="0" tIns="0" bIns="0">
            <a:spAutoFit/>
          </a:bodyPr>
          <a:lstStyle/>
          <a:p>
            <a:pPr>
              <a:spcBef>
                <a:spcPts val="0"/>
              </a:spcBef>
              <a:spcAft>
                <a:spcPts val="800"/>
              </a:spcAft>
            </a:pPr>
            <a:r>
              <a:rPr sz="1700" i="0">
                <a:solidFill>
                  <a:srgbClr val="1A1A1A"/>
                </a:solidFill>
                <a:latin typeface="Calibri"/>
              </a:rPr>
              <a:t>[1]  McMahan et al. Communication-efficient learning of deep networks from decentralized data. AISTATS, 2017.</a:t>
            </a:r>
          </a:p>
          <a:p>
            <a:pPr>
              <a:spcBef>
                <a:spcPts val="0"/>
              </a:spcBef>
              <a:spcAft>
                <a:spcPts val="800"/>
              </a:spcAft>
            </a:pPr>
            <a:r>
              <a:rPr sz="1700" i="0">
                <a:solidFill>
                  <a:srgbClr val="1A1A1A"/>
                </a:solidFill>
                <a:latin typeface="Calibri"/>
              </a:rPr>
              <a:t>[2]  Blanchard et al. Machine learning with adversaries: Byzantine tolerant gradient descent. NIPS, 2017.</a:t>
            </a:r>
          </a:p>
          <a:p>
            <a:pPr>
              <a:spcBef>
                <a:spcPts val="0"/>
              </a:spcBef>
              <a:spcAft>
                <a:spcPts val="800"/>
              </a:spcAft>
            </a:pPr>
            <a:r>
              <a:rPr sz="1700" i="0">
                <a:solidFill>
                  <a:srgbClr val="1A1A1A"/>
                </a:solidFill>
                <a:latin typeface="Calibri"/>
              </a:rPr>
              <a:t>[3]  Yin et al. Byzantine-robust distributed learning: towards optimal statistical rates. ICML, 2018.</a:t>
            </a:r>
          </a:p>
          <a:p>
            <a:pPr>
              <a:spcBef>
                <a:spcPts val="0"/>
              </a:spcBef>
              <a:spcAft>
                <a:spcPts val="800"/>
              </a:spcAft>
            </a:pPr>
            <a:r>
              <a:rPr sz="1700" i="0">
                <a:solidFill>
                  <a:srgbClr val="1A1A1A"/>
                </a:solidFill>
                <a:latin typeface="Calibri"/>
              </a:rPr>
              <a:t>[4]  Karimireddy et al. Byzantine-robust learning on heterogeneous datasets via bucketing. ICLR, 2022.</a:t>
            </a:r>
          </a:p>
          <a:p>
            <a:pPr>
              <a:spcBef>
                <a:spcPts val="0"/>
              </a:spcBef>
              <a:spcAft>
                <a:spcPts val="800"/>
              </a:spcAft>
            </a:pPr>
            <a:r>
              <a:rPr sz="1700" i="0">
                <a:solidFill>
                  <a:srgbClr val="1A1A1A"/>
                </a:solidFill>
                <a:latin typeface="Calibri"/>
              </a:rPr>
              <a:t>[5]  Hsu et al. Measuring the effects of non-identical data distribution for federated visual classification. arXiv:1909.06335, 2019.</a:t>
            </a:r>
          </a:p>
          <a:p>
            <a:pPr>
              <a:spcBef>
                <a:spcPts val="0"/>
              </a:spcBef>
              <a:spcAft>
                <a:spcPts val="800"/>
              </a:spcAft>
            </a:pPr>
            <a:r>
              <a:rPr sz="1700" i="0">
                <a:solidFill>
                  <a:srgbClr val="1A1A1A"/>
                </a:solidFill>
                <a:latin typeface="Calibri"/>
              </a:rPr>
              <a:t>[6]  CDC. BRFSS 2023 survey data and documentation.</a:t>
            </a:r>
          </a:p>
        </p:txBody>
      </p:sp>
      <p:sp>
        <p:nvSpPr>
          <p:cNvPr id="29" name="Rectangle 28"/>
          <p:cNvSpPr/>
          <p:nvPr/>
        </p:nvSpPr>
        <p:spPr>
          <a:xfrm>
            <a:off x="7644383" y="3310128"/>
            <a:ext cx="6638544" cy="713232"/>
          </a:xfrm>
          <a:prstGeom prst="rect">
            <a:avLst/>
          </a:prstGeom>
          <a:solidFill>
            <a:srgbClr val="0074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r>
              <a:rPr sz="2500" b="1">
                <a:solidFill>
                  <a:srgbClr val="FFFFFF"/>
                </a:solidFill>
                <a:latin typeface="Calibri"/>
              </a:rPr>
              <a:t>Methods: seven merge rules and one control</a:t>
            </a:r>
          </a:p>
        </p:txBody>
      </p:sp>
      <p:sp>
        <p:nvSpPr>
          <p:cNvPr id="30" name="TextBox 29"/>
          <p:cNvSpPr txBox="1"/>
          <p:nvPr/>
        </p:nvSpPr>
        <p:spPr>
          <a:xfrm>
            <a:off x="7644383" y="4133088"/>
            <a:ext cx="6638544" cy="3522181"/>
          </a:xfrm>
          <a:prstGeom prst="rect">
            <a:avLst/>
          </a:prstGeom>
          <a:noFill/>
        </p:spPr>
        <p:txBody>
          <a:bodyPr wrap="square" lIns="54864" rIns="0" tIns="0" bIns="0">
            <a:spAutoFit/>
          </a:bodyPr>
          <a:lstStyle/>
          <a:p>
            <a:pPr indent="-215900" marL="215900">
              <a:spcBef>
                <a:spcPts val="0"/>
              </a:spcBef>
              <a:spcAft>
                <a:spcPts val="800"/>
              </a:spcAft>
              <a:buFont typeface="Arial"/>
              <a:buChar char="•"/>
            </a:pPr>
            <a:r>
              <a:rPr sz="1900" i="0">
                <a:solidFill>
                  <a:srgbClr val="1A1A1A"/>
                </a:solidFill>
                <a:latin typeface="Calibri"/>
              </a:rPr>
              <a:t>Seven merge rules run head to head: FedAvg, FedProx, CS-Agg, Krum, trimmed mean, coordinate-wise median, and an unweighted mean.</a:t>
            </a:r>
          </a:p>
          <a:p>
            <a:pPr indent="-215900" marL="215900">
              <a:spcBef>
                <a:spcPts val="0"/>
              </a:spcBef>
              <a:spcAft>
                <a:spcPts val="800"/>
              </a:spcAft>
              <a:buFont typeface="Arial"/>
              <a:buChar char="•"/>
            </a:pPr>
            <a:r>
              <a:rPr sz="1900" i="0">
                <a:solidFill>
                  <a:srgbClr val="1A1A1A"/>
                </a:solidFill>
                <a:latin typeface="Calibri"/>
              </a:rPr>
              <a:t>The unweighted mean is our control: it uses no robust statistic and differs from FedAvg only in ignoring how much data each site holds.</a:t>
            </a:r>
          </a:p>
          <a:p>
            <a:pPr indent="-215900" marL="215900">
              <a:spcBef>
                <a:spcPts val="0"/>
              </a:spcBef>
              <a:spcAft>
                <a:spcPts val="800"/>
              </a:spcAft>
              <a:buFont typeface="Arial"/>
              <a:buChar char="•"/>
            </a:pPr>
            <a:r>
              <a:rPr sz="1900" i="0">
                <a:solidFill>
                  <a:srgbClr val="1A1A1A"/>
                </a:solidFill>
                <a:latin typeface="Calibri"/>
              </a:rPr>
              <a:t>Anything the control gains over FedAvg is therefore weighting alone, which is what isolates the effect.</a:t>
            </a:r>
          </a:p>
          <a:p>
            <a:pPr indent="-215900" marL="215900">
              <a:spcBef>
                <a:spcPts val="0"/>
              </a:spcBef>
              <a:spcAft>
                <a:spcPts val="800"/>
              </a:spcAft>
              <a:buFont typeface="Arial"/>
              <a:buChar char="•"/>
            </a:pPr>
            <a:r>
              <a:rPr sz="1900" i="0">
                <a:solidFill>
                  <a:srgbClr val="1A1A1A"/>
                </a:solidFill>
                <a:latin typeface="Calibri"/>
              </a:rPr>
              <a:t>On BRFSS we corrupt labels only the way real people err, reporting no depression when they have it.</a:t>
            </a:r>
          </a:p>
        </p:txBody>
      </p:sp>
      <p:graphicFrame>
        <p:nvGraphicFramePr>
          <p:cNvPr id="31" name="Table 30"/>
          <p:cNvGraphicFramePr>
            <a:graphicFrameLocks noGrp="1"/>
          </p:cNvGraphicFramePr>
          <p:nvPr/>
        </p:nvGraphicFramePr>
        <p:xfrm>
          <a:off x="7644383" y="7838149"/>
          <a:ext cx="6638544" cy="2907792"/>
        </p:xfrm>
        <a:graphic>
          <a:graphicData uri="http://schemas.openxmlformats.org/drawingml/2006/table">
            <a:tbl>
              <a:tblPr>
                <a:tableStyleId>{2D5ABB26-0587-4C30-8999-92F81FD0307C}</a:tableStyleId>
              </a:tblPr>
              <a:tblGrid>
                <a:gridCol w="2011680"/>
                <a:gridCol w="4626864"/>
              </a:tblGrid>
              <a:tr h="603504">
                <a:tc>
                  <a:txBody>
                    <a:bodyPr wrap="square"/>
                    <a:lstStyle/>
                    <a:p>
                      <a:pPr algn="l"/>
                      <a:r>
                        <a:rPr sz="1500" b="1">
                          <a:solidFill>
                            <a:srgbClr val="FFFFFF"/>
                          </a:solidFill>
                          <a:latin typeface="Calibri"/>
                        </a:rPr>
                        <a:t>What we varied</a:t>
                      </a:r>
                    </a:p>
                  </a:txBody>
                  <a:tcPr marL="91440" marR="91440" marT="18288" marB="18288" anchor="ctr">
                    <a:solidFill>
                      <a:srgbClr val="007439"/>
                    </a:solidFill>
                  </a:tcPr>
                </a:tc>
                <a:tc>
                  <a:txBody>
                    <a:bodyPr wrap="square"/>
                    <a:lstStyle/>
                    <a:p>
                      <a:pPr algn="l"/>
                      <a:r>
                        <a:rPr sz="1500" b="1">
                          <a:solidFill>
                            <a:srgbClr val="FFFFFF"/>
                          </a:solidFill>
                          <a:latin typeface="Calibri"/>
                        </a:rPr>
                        <a:t>Levels tested</a:t>
                      </a:r>
                    </a:p>
                  </a:txBody>
                  <a:tcPr marL="91440" marR="91440" marT="18288" marB="18288" anchor="ctr">
                    <a:solidFill>
                      <a:srgbClr val="007439"/>
                    </a:solidFill>
                  </a:tcPr>
                </a:tc>
              </a:tr>
              <a:tr h="384048">
                <a:tc>
                  <a:txBody>
                    <a:bodyPr wrap="square"/>
                    <a:lstStyle/>
                    <a:p>
                      <a:pPr algn="l"/>
                      <a:r>
                        <a:rPr sz="1500" b="0">
                          <a:solidFill>
                            <a:srgbClr val="1A1A1A"/>
                          </a:solidFill>
                          <a:latin typeface="Calibri"/>
                        </a:rPr>
                        <a:t>Merge rules</a:t>
                      </a:r>
                    </a:p>
                  </a:txBody>
                  <a:tcPr marL="91440" marR="91440" marT="18288" marB="18288" anchor="ctr">
                    <a:solidFill>
                      <a:srgbClr val="FFFFFF"/>
                    </a:solidFill>
                  </a:tcPr>
                </a:tc>
                <a:tc>
                  <a:txBody>
                    <a:bodyPr wrap="square"/>
                    <a:lstStyle/>
                    <a:p>
                      <a:pPr algn="l"/>
                      <a:r>
                        <a:rPr sz="1500" b="0">
                          <a:solidFill>
                            <a:srgbClr val="1A1A1A"/>
                          </a:solidFill>
                          <a:latin typeface="Calibri"/>
                        </a:rPr>
                        <a:t>7, including the unweighted-mean control</a:t>
                      </a:r>
                    </a:p>
                  </a:txBody>
                  <a:tcPr marL="91440" marR="91440" marT="18288" marB="18288" anchor="ctr">
                    <a:solidFill>
                      <a:srgbClr val="FFFFFF"/>
                    </a:solidFill>
                  </a:tcPr>
                </a:tc>
              </a:tr>
              <a:tr h="384048">
                <a:tc>
                  <a:txBody>
                    <a:bodyPr wrap="square"/>
                    <a:lstStyle/>
                    <a:p>
                      <a:pPr algn="l"/>
                      <a:r>
                        <a:rPr sz="1500" b="0">
                          <a:solidFill>
                            <a:srgbClr val="1A1A1A"/>
                          </a:solidFill>
                          <a:latin typeface="Calibri"/>
                        </a:rPr>
                        <a:t>Datasets</a:t>
                      </a:r>
                    </a:p>
                  </a:txBody>
                  <a:tcPr marL="91440" marR="91440" marT="18288" marB="18288" anchor="ctr">
                    <a:solidFill>
                      <a:srgbClr val="E2F0D9"/>
                    </a:solidFill>
                  </a:tcPr>
                </a:tc>
                <a:tc>
                  <a:txBody>
                    <a:bodyPr wrap="square"/>
                    <a:lstStyle/>
                    <a:p>
                      <a:pPr algn="l"/>
                      <a:r>
                        <a:rPr sz="1500" b="0">
                          <a:solidFill>
                            <a:srgbClr val="1A1A1A"/>
                          </a:solidFill>
                          <a:latin typeface="Calibri"/>
                        </a:rPr>
                        <a:t>BRFSS 2023 and Breast Cancer Wisconsin</a:t>
                      </a:r>
                    </a:p>
                  </a:txBody>
                  <a:tcPr marL="91440" marR="91440" marT="18288" marB="18288" anchor="ctr">
                    <a:solidFill>
                      <a:srgbClr val="E2F0D9"/>
                    </a:solidFill>
                  </a:tcPr>
                </a:tc>
              </a:tr>
              <a:tr h="384048">
                <a:tc>
                  <a:txBody>
                    <a:bodyPr wrap="square"/>
                    <a:lstStyle/>
                    <a:p>
                      <a:pPr algn="l"/>
                      <a:r>
                        <a:rPr sz="1500" b="0">
                          <a:solidFill>
                            <a:srgbClr val="1A1A1A"/>
                          </a:solidFill>
                          <a:latin typeface="Calibri"/>
                        </a:rPr>
                        <a:t>Split skew, alpha</a:t>
                      </a:r>
                    </a:p>
                  </a:txBody>
                  <a:tcPr marL="91440" marR="91440" marT="18288" marB="18288" anchor="ctr">
                    <a:solidFill>
                      <a:srgbClr val="FFFFFF"/>
                    </a:solidFill>
                  </a:tcPr>
                </a:tc>
                <a:tc>
                  <a:txBody>
                    <a:bodyPr wrap="square"/>
                    <a:lstStyle/>
                    <a:p>
                      <a:pPr algn="l"/>
                      <a:r>
                        <a:rPr sz="1500" b="0">
                          <a:solidFill>
                            <a:srgbClr val="1A1A1A"/>
                          </a:solidFill>
                          <a:latin typeface="Calibri"/>
                        </a:rPr>
                        <a:t>0.1, 0.5, 1.0 — lower is more lopsided</a:t>
                      </a:r>
                    </a:p>
                  </a:txBody>
                  <a:tcPr marL="91440" marR="91440" marT="18288" marB="18288" anchor="ctr">
                    <a:solidFill>
                      <a:srgbClr val="FFFFFF"/>
                    </a:solidFill>
                  </a:tcPr>
                </a:tc>
              </a:tr>
              <a:tr h="384048">
                <a:tc>
                  <a:txBody>
                    <a:bodyPr wrap="square"/>
                    <a:lstStyle/>
                    <a:p>
                      <a:pPr algn="l"/>
                      <a:r>
                        <a:rPr sz="1500" b="0">
                          <a:solidFill>
                            <a:srgbClr val="1A1A1A"/>
                          </a:solidFill>
                          <a:latin typeface="Calibri"/>
                        </a:rPr>
                        <a:t>Label noise</a:t>
                      </a:r>
                    </a:p>
                  </a:txBody>
                  <a:tcPr marL="91440" marR="91440" marT="18288" marB="18288" anchor="ctr">
                    <a:solidFill>
                      <a:srgbClr val="E2F0D9"/>
                    </a:solidFill>
                  </a:tcPr>
                </a:tc>
                <a:tc>
                  <a:txBody>
                    <a:bodyPr wrap="square"/>
                    <a:lstStyle/>
                    <a:p>
                      <a:pPr algn="l"/>
                      <a:r>
                        <a:rPr sz="1500" b="0">
                          <a:solidFill>
                            <a:srgbClr val="1A1A1A"/>
                          </a:solidFill>
                          <a:latin typeface="Calibri"/>
                        </a:rPr>
                        <a:t>0, 10, 20, 30% of records, at 20% of sites</a:t>
                      </a:r>
                    </a:p>
                  </a:txBody>
                  <a:tcPr marL="91440" marR="91440" marT="18288" marB="18288" anchor="ctr">
                    <a:solidFill>
                      <a:srgbClr val="E2F0D9"/>
                    </a:solidFill>
                  </a:tcPr>
                </a:tc>
              </a:tr>
              <a:tr h="384048">
                <a:tc>
                  <a:txBody>
                    <a:bodyPr wrap="square"/>
                    <a:lstStyle/>
                    <a:p>
                      <a:pPr algn="l"/>
                      <a:r>
                        <a:rPr sz="1500" b="0">
                          <a:solidFill>
                            <a:srgbClr val="1A1A1A"/>
                          </a:solidFill>
                          <a:latin typeface="Calibri"/>
                        </a:rPr>
                        <a:t>Every run</a:t>
                      </a:r>
                    </a:p>
                  </a:txBody>
                  <a:tcPr marL="91440" marR="91440" marT="18288" marB="18288" anchor="ctr">
                    <a:solidFill>
                      <a:srgbClr val="FFFFFF"/>
                    </a:solidFill>
                  </a:tcPr>
                </a:tc>
                <a:tc>
                  <a:txBody>
                    <a:bodyPr wrap="square"/>
                    <a:lstStyle/>
                    <a:p>
                      <a:pPr algn="l"/>
                      <a:r>
                        <a:rPr sz="1500" b="0">
                          <a:solidFill>
                            <a:srgbClr val="1A1A1A"/>
                          </a:solidFill>
                          <a:latin typeface="Calibri"/>
                        </a:rPr>
                        <a:t>20 sites, 50 rounds, seeds 42 / 123 / 456</a:t>
                      </a:r>
                    </a:p>
                  </a:txBody>
                  <a:tcPr marL="91440" marR="91440" marT="18288" marB="18288" anchor="ctr">
                    <a:solidFill>
                      <a:srgbClr val="FFFFFF"/>
                    </a:solidFill>
                  </a:tcPr>
                </a:tc>
              </a:tr>
              <a:tr h="384048">
                <a:tc>
                  <a:txBody>
                    <a:bodyPr wrap="square"/>
                    <a:lstStyle/>
                    <a:p>
                      <a:pPr algn="l"/>
                      <a:r>
                        <a:rPr sz="1500" b="0">
                          <a:solidFill>
                            <a:srgbClr val="1A1A1A"/>
                          </a:solidFill>
                          <a:latin typeface="Calibri"/>
                        </a:rPr>
                        <a:t>Total</a:t>
                      </a:r>
                    </a:p>
                  </a:txBody>
                  <a:tcPr marL="91440" marR="91440" marT="18288" marB="18288" anchor="ctr">
                    <a:solidFill>
                      <a:srgbClr val="E2F0D9"/>
                    </a:solidFill>
                  </a:tcPr>
                </a:tc>
                <a:tc>
                  <a:txBody>
                    <a:bodyPr wrap="square"/>
                    <a:lstStyle/>
                    <a:p>
                      <a:pPr algn="l"/>
                      <a:r>
                        <a:rPr sz="1500" b="0">
                          <a:solidFill>
                            <a:srgbClr val="1A1A1A"/>
                          </a:solidFill>
                          <a:latin typeface="Calibri"/>
                        </a:rPr>
                        <a:t>624 completed runs</a:t>
                      </a:r>
                    </a:p>
                  </a:txBody>
                  <a:tcPr marL="91440" marR="91440" marT="18288" marB="18288" anchor="ctr">
                    <a:solidFill>
                      <a:srgbClr val="E2F0D9"/>
                    </a:solidFill>
                  </a:tcPr>
                </a:tc>
              </a:tr>
            </a:tbl>
          </a:graphicData>
        </a:graphic>
      </p:graphicFrame>
      <p:sp>
        <p:nvSpPr>
          <p:cNvPr id="32" name="Rectangle 31"/>
          <p:cNvSpPr/>
          <p:nvPr/>
        </p:nvSpPr>
        <p:spPr>
          <a:xfrm>
            <a:off x="7644383" y="10928821"/>
            <a:ext cx="6638544" cy="713232"/>
          </a:xfrm>
          <a:prstGeom prst="rect">
            <a:avLst/>
          </a:prstGeom>
          <a:solidFill>
            <a:srgbClr val="0074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r>
              <a:rPr sz="2500" b="1">
                <a:solidFill>
                  <a:srgbClr val="FFFFFF"/>
                </a:solidFill>
                <a:latin typeface="Calibri"/>
              </a:rPr>
              <a:t>Results</a:t>
            </a:r>
          </a:p>
        </p:txBody>
      </p:sp>
      <p:sp>
        <p:nvSpPr>
          <p:cNvPr id="33" name="Rectangle 32"/>
          <p:cNvSpPr/>
          <p:nvPr/>
        </p:nvSpPr>
        <p:spPr>
          <a:xfrm>
            <a:off x="7644383" y="11751781"/>
            <a:ext cx="6638544" cy="566928"/>
          </a:xfrm>
          <a:prstGeom prst="rect">
            <a:avLst/>
          </a:prstGeom>
          <a:solidFill>
            <a:srgbClr val="3F8C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r>
              <a:rPr sz="1900" b="1">
                <a:solidFill>
                  <a:srgbClr val="FFFFFF"/>
                </a:solidFill>
                <a:latin typeface="Calibri"/>
              </a:rPr>
              <a:t>Most of the gain over FedAvg is weighting, not robustness</a:t>
            </a:r>
          </a:p>
        </p:txBody>
      </p:sp>
      <p:pic>
        <p:nvPicPr>
          <p:cNvPr id="34" name="Picture 33" descr="posterA_decomposition.png"/>
          <p:cNvPicPr>
            <a:picLocks noChangeAspect="1"/>
          </p:cNvPicPr>
          <p:nvPr/>
        </p:nvPicPr>
        <p:blipFill>
          <a:blip r:embed="rId6"/>
          <a:stretch>
            <a:fillRect/>
          </a:stretch>
        </p:blipFill>
        <p:spPr>
          <a:xfrm>
            <a:off x="7644383" y="12428437"/>
            <a:ext cx="6638544" cy="4846320"/>
          </a:xfrm>
          <a:prstGeom prst="rect">
            <a:avLst/>
          </a:prstGeom>
        </p:spPr>
      </p:pic>
      <p:sp>
        <p:nvSpPr>
          <p:cNvPr id="35" name="TextBox 34"/>
          <p:cNvSpPr txBox="1"/>
          <p:nvPr/>
        </p:nvSpPr>
        <p:spPr>
          <a:xfrm>
            <a:off x="7644383" y="17366197"/>
            <a:ext cx="6638544" cy="910481"/>
          </a:xfrm>
          <a:prstGeom prst="rect">
            <a:avLst/>
          </a:prstGeom>
          <a:noFill/>
        </p:spPr>
        <p:txBody>
          <a:bodyPr wrap="square" lIns="54864" rIns="0" tIns="0" bIns="0">
            <a:spAutoFit/>
          </a:bodyPr>
          <a:lstStyle/>
          <a:p>
            <a:pPr>
              <a:spcBef>
                <a:spcPts val="0"/>
              </a:spcBef>
              <a:spcAft>
                <a:spcPts val="800"/>
              </a:spcAft>
            </a:pPr>
            <a:r>
              <a:rPr sz="1500" i="0">
                <a:solidFill>
                  <a:srgbClr val="333333"/>
                </a:solidFill>
                <a:latin typeface="Calibri"/>
              </a:rPr>
              <a:t>Figure 3. All seven rules under the harshest split, 12 runs each. Three robust rules clear the dashed control line, but only by 0.004 to 0.045, against the 0.172 the control alone gains over FedAvg.</a:t>
            </a:r>
          </a:p>
        </p:txBody>
      </p:sp>
      <p:graphicFrame>
        <p:nvGraphicFramePr>
          <p:cNvPr id="36" name="Table 35"/>
          <p:cNvGraphicFramePr>
            <a:graphicFrameLocks noGrp="1"/>
          </p:cNvGraphicFramePr>
          <p:nvPr/>
        </p:nvGraphicFramePr>
        <p:xfrm>
          <a:off x="7644383" y="18459558"/>
          <a:ext cx="6638544" cy="3291840"/>
        </p:xfrm>
        <a:graphic>
          <a:graphicData uri="http://schemas.openxmlformats.org/drawingml/2006/table">
            <a:tbl>
              <a:tblPr>
                <a:tableStyleId>{2D5ABB26-0587-4C30-8999-92F81FD0307C}</a:tableStyleId>
              </a:tblPr>
              <a:tblGrid>
                <a:gridCol w="1828800"/>
                <a:gridCol w="822960"/>
                <a:gridCol w="822960"/>
                <a:gridCol w="960120"/>
                <a:gridCol w="960120"/>
                <a:gridCol w="1243584"/>
              </a:tblGrid>
              <a:tr h="603504">
                <a:tc>
                  <a:txBody>
                    <a:bodyPr wrap="square"/>
                    <a:lstStyle/>
                    <a:p>
                      <a:pPr algn="l"/>
                      <a:r>
                        <a:rPr sz="1500" b="1">
                          <a:solidFill>
                            <a:srgbClr val="FFFFFF"/>
                          </a:solidFill>
                          <a:latin typeface="Calibri"/>
                        </a:rPr>
                        <a:t>Merge rule</a:t>
                      </a:r>
                    </a:p>
                  </a:txBody>
                  <a:tcPr marL="91440" marR="91440" marT="18288" marB="18288" anchor="ctr">
                    <a:solidFill>
                      <a:srgbClr val="007439"/>
                    </a:solidFill>
                  </a:tcPr>
                </a:tc>
                <a:tc>
                  <a:txBody>
                    <a:bodyPr wrap="square"/>
                    <a:lstStyle/>
                    <a:p>
                      <a:pPr algn="ctr"/>
                      <a:r>
                        <a:rPr sz="1500" b="1">
                          <a:solidFill>
                            <a:srgbClr val="FFFFFF"/>
                          </a:solidFill>
                          <a:latin typeface="Calibri"/>
                        </a:rPr>
                        <a:t>Mean</a:t>
                      </a:r>
                    </a:p>
                    <a:p>
                      <a:pPr algn="ctr"/>
                      <a:r>
                        <a:rPr sz="1500" b="1">
                          <a:solidFill>
                            <a:srgbClr val="FFFFFF"/>
                          </a:solidFill>
                          <a:latin typeface="Calibri"/>
                        </a:rPr>
                        <a:t>AUC</a:t>
                      </a:r>
                    </a:p>
                  </a:txBody>
                  <a:tcPr marL="91440" marR="91440" marT="18288" marB="18288" anchor="ctr">
                    <a:solidFill>
                      <a:srgbClr val="007439"/>
                    </a:solidFill>
                  </a:tcPr>
                </a:tc>
                <a:tc>
                  <a:txBody>
                    <a:bodyPr wrap="square"/>
                    <a:lstStyle/>
                    <a:p>
                      <a:pPr algn="ctr"/>
                      <a:r>
                        <a:rPr sz="1500" b="1">
                          <a:solidFill>
                            <a:srgbClr val="FFFFFF"/>
                          </a:solidFill>
                          <a:latin typeface="Calibri"/>
                        </a:rPr>
                        <a:t>Worst</a:t>
                      </a:r>
                    </a:p>
                    <a:p>
                      <a:pPr algn="ctr"/>
                      <a:r>
                        <a:rPr sz="1500" b="1">
                          <a:solidFill>
                            <a:srgbClr val="FFFFFF"/>
                          </a:solidFill>
                          <a:latin typeface="Calibri"/>
                        </a:rPr>
                        <a:t>run</a:t>
                      </a:r>
                    </a:p>
                  </a:txBody>
                  <a:tcPr marL="91440" marR="91440" marT="18288" marB="18288" anchor="ctr">
                    <a:solidFill>
                      <a:srgbClr val="007439"/>
                    </a:solidFill>
                  </a:tcPr>
                </a:tc>
                <a:tc>
                  <a:txBody>
                    <a:bodyPr wrap="square"/>
                    <a:lstStyle/>
                    <a:p>
                      <a:pPr algn="ctr"/>
                      <a:r>
                        <a:rPr sz="1500" b="1">
                          <a:solidFill>
                            <a:srgbClr val="FFFFFF"/>
                          </a:solidFill>
                          <a:latin typeface="Calibri"/>
                        </a:rPr>
                        <a:t>vs.</a:t>
                      </a:r>
                    </a:p>
                    <a:p>
                      <a:pPr algn="ctr"/>
                      <a:r>
                        <a:rPr sz="1500" b="1">
                          <a:solidFill>
                            <a:srgbClr val="FFFFFF"/>
                          </a:solidFill>
                          <a:latin typeface="Calibri"/>
                        </a:rPr>
                        <a:t>FedAvg</a:t>
                      </a:r>
                    </a:p>
                  </a:txBody>
                  <a:tcPr marL="91440" marR="91440" marT="18288" marB="18288" anchor="ctr">
                    <a:solidFill>
                      <a:srgbClr val="007439"/>
                    </a:solidFill>
                  </a:tcPr>
                </a:tc>
                <a:tc>
                  <a:txBody>
                    <a:bodyPr wrap="square"/>
                    <a:lstStyle/>
                    <a:p>
                      <a:pPr algn="ctr"/>
                      <a:r>
                        <a:rPr sz="1500" b="1">
                          <a:solidFill>
                            <a:srgbClr val="FFFFFF"/>
                          </a:solidFill>
                          <a:latin typeface="Calibri"/>
                        </a:rPr>
                        <a:t>vs.</a:t>
                      </a:r>
                    </a:p>
                    <a:p>
                      <a:pPr algn="ctr"/>
                      <a:r>
                        <a:rPr sz="1500" b="1">
                          <a:solidFill>
                            <a:srgbClr val="FFFFFF"/>
                          </a:solidFill>
                          <a:latin typeface="Calibri"/>
                        </a:rPr>
                        <a:t>control</a:t>
                      </a:r>
                    </a:p>
                  </a:txBody>
                  <a:tcPr marL="91440" marR="91440" marT="18288" marB="18288" anchor="ctr">
                    <a:solidFill>
                      <a:srgbClr val="007439"/>
                    </a:solidFill>
                  </a:tcPr>
                </a:tc>
                <a:tc>
                  <a:txBody>
                    <a:bodyPr wrap="square"/>
                    <a:lstStyle/>
                    <a:p>
                      <a:pPr algn="ctr"/>
                      <a:r>
                        <a:rPr sz="1500" b="1">
                          <a:solidFill>
                            <a:srgbClr val="FFFFFF"/>
                          </a:solidFill>
                          <a:latin typeface="Calibri"/>
                        </a:rPr>
                        <a:t>Holm p</a:t>
                      </a:r>
                    </a:p>
                    <a:p>
                      <a:pPr algn="ctr"/>
                      <a:r>
                        <a:rPr sz="1500" b="1">
                          <a:solidFill>
                            <a:srgbClr val="FFFFFF"/>
                          </a:solidFill>
                          <a:latin typeface="Calibri"/>
                        </a:rPr>
                        <a:t>vs. control</a:t>
                      </a:r>
                    </a:p>
                  </a:txBody>
                  <a:tcPr marL="91440" marR="91440" marT="18288" marB="18288" anchor="ctr">
                    <a:solidFill>
                      <a:srgbClr val="007439"/>
                    </a:solidFill>
                  </a:tcPr>
                </a:tc>
              </a:tr>
              <a:tr h="384048">
                <a:tc>
                  <a:txBody>
                    <a:bodyPr wrap="square"/>
                    <a:lstStyle/>
                    <a:p>
                      <a:pPr algn="l"/>
                      <a:r>
                        <a:rPr sz="1500" b="0">
                          <a:solidFill>
                            <a:srgbClr val="1A1A1A"/>
                          </a:solidFill>
                          <a:latin typeface="Calibri"/>
                        </a:rPr>
                        <a:t>FedAvg</a:t>
                      </a:r>
                    </a:p>
                  </a:txBody>
                  <a:tcPr marL="91440" marR="91440" marT="18288" marB="18288" anchor="ctr">
                    <a:solidFill>
                      <a:srgbClr val="FFFFFF"/>
                    </a:solidFill>
                  </a:tcPr>
                </a:tc>
                <a:tc>
                  <a:txBody>
                    <a:bodyPr wrap="square"/>
                    <a:lstStyle/>
                    <a:p>
                      <a:pPr algn="ctr"/>
                      <a:r>
                        <a:rPr sz="1500" b="0">
                          <a:solidFill>
                            <a:srgbClr val="1A1A1A"/>
                          </a:solidFill>
                          <a:latin typeface="Calibri"/>
                        </a:rPr>
                        <a:t>0.7081</a:t>
                      </a:r>
                    </a:p>
                  </a:txBody>
                  <a:tcPr marL="91440" marR="91440" marT="18288" marB="18288" anchor="ctr">
                    <a:solidFill>
                      <a:srgbClr val="FFFFFF"/>
                    </a:solidFill>
                  </a:tcPr>
                </a:tc>
                <a:tc>
                  <a:txBody>
                    <a:bodyPr wrap="square"/>
                    <a:lstStyle/>
                    <a:p>
                      <a:pPr algn="ctr"/>
                      <a:r>
                        <a:rPr sz="1500" b="0">
                          <a:solidFill>
                            <a:srgbClr val="1A1A1A"/>
                          </a:solidFill>
                          <a:latin typeface="Calibri"/>
                        </a:rPr>
                        <a:t>0.4002</a:t>
                      </a:r>
                    </a:p>
                  </a:txBody>
                  <a:tcPr marL="91440" marR="91440" marT="18288" marB="18288" anchor="ctr">
                    <a:solidFill>
                      <a:srgbClr val="FFFFFF"/>
                    </a:solidFill>
                  </a:tcPr>
                </a:tc>
                <a:tc>
                  <a:txBody>
                    <a:bodyPr wrap="square"/>
                    <a:lstStyle/>
                    <a:p>
                      <a:pPr algn="ctr"/>
                      <a:r>
                        <a:rPr sz="1500" b="0">
                          <a:solidFill>
                            <a:srgbClr val="1A1A1A"/>
                          </a:solidFill>
                          <a:latin typeface="Calibri"/>
                        </a:rPr>
                        <a:t>—</a:t>
                      </a:r>
                    </a:p>
                  </a:txBody>
                  <a:tcPr marL="91440" marR="91440" marT="18288" marB="18288" anchor="ctr">
                    <a:solidFill>
                      <a:srgbClr val="FFFFFF"/>
                    </a:solidFill>
                  </a:tcPr>
                </a:tc>
                <a:tc>
                  <a:txBody>
                    <a:bodyPr wrap="square"/>
                    <a:lstStyle/>
                    <a:p>
                      <a:pPr algn="ctr"/>
                      <a:r>
                        <a:rPr sz="1500" b="0">
                          <a:solidFill>
                            <a:srgbClr val="1A1A1A"/>
                          </a:solidFill>
                          <a:latin typeface="Calibri"/>
                        </a:rPr>
                        <a:t>-0.0584</a:t>
                      </a:r>
                    </a:p>
                  </a:txBody>
                  <a:tcPr marL="91440" marR="91440" marT="18288" marB="18288" anchor="ctr">
                    <a:solidFill>
                      <a:srgbClr val="FFFFFF"/>
                    </a:solidFill>
                  </a:tcPr>
                </a:tc>
                <a:tc>
                  <a:txBody>
                    <a:bodyPr wrap="square"/>
                    <a:lstStyle/>
                    <a:p>
                      <a:pPr algn="ctr"/>
                      <a:r>
                        <a:rPr sz="1500" b="0">
                          <a:solidFill>
                            <a:srgbClr val="1A1A1A"/>
                          </a:solidFill>
                          <a:latin typeface="Calibri"/>
                        </a:rPr>
                        <a:t>0.0036</a:t>
                      </a:r>
                    </a:p>
                  </a:txBody>
                  <a:tcPr marL="91440" marR="91440" marT="18288" marB="18288" anchor="ctr">
                    <a:solidFill>
                      <a:srgbClr val="FFFFFF"/>
                    </a:solidFill>
                  </a:tcPr>
                </a:tc>
              </a:tr>
              <a:tr h="384048">
                <a:tc>
                  <a:txBody>
                    <a:bodyPr wrap="square"/>
                    <a:lstStyle/>
                    <a:p>
                      <a:pPr algn="l"/>
                      <a:r>
                        <a:rPr sz="1500" b="0">
                          <a:solidFill>
                            <a:srgbClr val="1A1A1A"/>
                          </a:solidFill>
                          <a:latin typeface="Calibri"/>
                        </a:rPr>
                        <a:t>FedProx</a:t>
                      </a:r>
                    </a:p>
                  </a:txBody>
                  <a:tcPr marL="91440" marR="91440" marT="18288" marB="18288" anchor="ctr">
                    <a:solidFill>
                      <a:srgbClr val="E2F0D9"/>
                    </a:solidFill>
                  </a:tcPr>
                </a:tc>
                <a:tc>
                  <a:txBody>
                    <a:bodyPr wrap="square"/>
                    <a:lstStyle/>
                    <a:p>
                      <a:pPr algn="ctr"/>
                      <a:r>
                        <a:rPr sz="1500" b="0">
                          <a:solidFill>
                            <a:srgbClr val="1A1A1A"/>
                          </a:solidFill>
                          <a:latin typeface="Calibri"/>
                        </a:rPr>
                        <a:t>0.7286</a:t>
                      </a:r>
                    </a:p>
                  </a:txBody>
                  <a:tcPr marL="91440" marR="91440" marT="18288" marB="18288" anchor="ctr">
                    <a:solidFill>
                      <a:srgbClr val="E2F0D9"/>
                    </a:solidFill>
                  </a:tcPr>
                </a:tc>
                <a:tc>
                  <a:txBody>
                    <a:bodyPr wrap="square"/>
                    <a:lstStyle/>
                    <a:p>
                      <a:pPr algn="ctr"/>
                      <a:r>
                        <a:rPr sz="1500" b="0">
                          <a:solidFill>
                            <a:srgbClr val="1A1A1A"/>
                          </a:solidFill>
                          <a:latin typeface="Calibri"/>
                        </a:rPr>
                        <a:t>0.4874</a:t>
                      </a:r>
                    </a:p>
                  </a:txBody>
                  <a:tcPr marL="91440" marR="91440" marT="18288" marB="18288" anchor="ctr">
                    <a:solidFill>
                      <a:srgbClr val="E2F0D9"/>
                    </a:solidFill>
                  </a:tcPr>
                </a:tc>
                <a:tc>
                  <a:txBody>
                    <a:bodyPr wrap="square"/>
                    <a:lstStyle/>
                    <a:p>
                      <a:pPr algn="ctr"/>
                      <a:r>
                        <a:rPr sz="1500" b="0">
                          <a:solidFill>
                            <a:srgbClr val="1A1A1A"/>
                          </a:solidFill>
                          <a:latin typeface="Calibri"/>
                        </a:rPr>
                        <a:t>+0.0205</a:t>
                      </a:r>
                    </a:p>
                  </a:txBody>
                  <a:tcPr marL="91440" marR="91440" marT="18288" marB="18288" anchor="ctr">
                    <a:solidFill>
                      <a:srgbClr val="E2F0D9"/>
                    </a:solidFill>
                  </a:tcPr>
                </a:tc>
                <a:tc>
                  <a:txBody>
                    <a:bodyPr wrap="square"/>
                    <a:lstStyle/>
                    <a:p>
                      <a:pPr algn="ctr"/>
                      <a:r>
                        <a:rPr sz="1500" b="0">
                          <a:solidFill>
                            <a:srgbClr val="1A1A1A"/>
                          </a:solidFill>
                          <a:latin typeface="Calibri"/>
                        </a:rPr>
                        <a:t>-0.0379</a:t>
                      </a:r>
                    </a:p>
                  </a:txBody>
                  <a:tcPr marL="91440" marR="91440" marT="18288" marB="18288" anchor="ctr">
                    <a:solidFill>
                      <a:srgbClr val="E2F0D9"/>
                    </a:solidFill>
                  </a:tcPr>
                </a:tc>
                <a:tc>
                  <a:txBody>
                    <a:bodyPr wrap="square"/>
                    <a:lstStyle/>
                    <a:p>
                      <a:pPr algn="ctr"/>
                      <a:r>
                        <a:rPr sz="1500" b="0">
                          <a:solidFill>
                            <a:srgbClr val="1A1A1A"/>
                          </a:solidFill>
                          <a:latin typeface="Calibri"/>
                        </a:rPr>
                        <a:t>0.0036</a:t>
                      </a:r>
                    </a:p>
                  </a:txBody>
                  <a:tcPr marL="91440" marR="91440" marT="18288" marB="18288" anchor="ctr">
                    <a:solidFill>
                      <a:srgbClr val="E2F0D9"/>
                    </a:solidFill>
                  </a:tcPr>
                </a:tc>
              </a:tr>
              <a:tr h="384048">
                <a:tc>
                  <a:txBody>
                    <a:bodyPr wrap="square"/>
                    <a:lstStyle/>
                    <a:p>
                      <a:pPr algn="l"/>
                      <a:r>
                        <a:rPr sz="1500" b="0">
                          <a:solidFill>
                            <a:srgbClr val="1A1A1A"/>
                          </a:solidFill>
                          <a:latin typeface="Calibri"/>
                        </a:rPr>
                        <a:t>Krum</a:t>
                      </a:r>
                    </a:p>
                  </a:txBody>
                  <a:tcPr marL="91440" marR="91440" marT="18288" marB="18288" anchor="ctr">
                    <a:solidFill>
                      <a:srgbClr val="FFFFFF"/>
                    </a:solidFill>
                  </a:tcPr>
                </a:tc>
                <a:tc>
                  <a:txBody>
                    <a:bodyPr wrap="square"/>
                    <a:lstStyle/>
                    <a:p>
                      <a:pPr algn="ctr"/>
                      <a:r>
                        <a:rPr sz="1500" b="0">
                          <a:solidFill>
                            <a:srgbClr val="1A1A1A"/>
                          </a:solidFill>
                          <a:latin typeface="Calibri"/>
                        </a:rPr>
                        <a:t>0.7439</a:t>
                      </a:r>
                    </a:p>
                  </a:txBody>
                  <a:tcPr marL="91440" marR="91440" marT="18288" marB="18288" anchor="ctr">
                    <a:solidFill>
                      <a:srgbClr val="FFFFFF"/>
                    </a:solidFill>
                  </a:tcPr>
                </a:tc>
                <a:tc>
                  <a:txBody>
                    <a:bodyPr wrap="square"/>
                    <a:lstStyle/>
                    <a:p>
                      <a:pPr algn="ctr"/>
                      <a:r>
                        <a:rPr sz="1500" b="0">
                          <a:solidFill>
                            <a:srgbClr val="1A1A1A"/>
                          </a:solidFill>
                          <a:latin typeface="Calibri"/>
                        </a:rPr>
                        <a:t>0.3275</a:t>
                      </a:r>
                    </a:p>
                  </a:txBody>
                  <a:tcPr marL="91440" marR="91440" marT="18288" marB="18288" anchor="ctr">
                    <a:solidFill>
                      <a:srgbClr val="FFFFFF"/>
                    </a:solidFill>
                  </a:tcPr>
                </a:tc>
                <a:tc>
                  <a:txBody>
                    <a:bodyPr wrap="square"/>
                    <a:lstStyle/>
                    <a:p>
                      <a:pPr algn="ctr"/>
                      <a:r>
                        <a:rPr sz="1500" b="0">
                          <a:solidFill>
                            <a:srgbClr val="1A1A1A"/>
                          </a:solidFill>
                          <a:latin typeface="Calibri"/>
                        </a:rPr>
                        <a:t>+0.0358</a:t>
                      </a:r>
                    </a:p>
                  </a:txBody>
                  <a:tcPr marL="91440" marR="91440" marT="18288" marB="18288" anchor="ctr">
                    <a:solidFill>
                      <a:srgbClr val="FFFFFF"/>
                    </a:solidFill>
                  </a:tcPr>
                </a:tc>
                <a:tc>
                  <a:txBody>
                    <a:bodyPr wrap="square"/>
                    <a:lstStyle/>
                    <a:p>
                      <a:pPr algn="ctr"/>
                      <a:r>
                        <a:rPr sz="1500" b="0">
                          <a:solidFill>
                            <a:srgbClr val="1A1A1A"/>
                          </a:solidFill>
                          <a:latin typeface="Calibri"/>
                        </a:rPr>
                        <a:t>-0.0226</a:t>
                      </a:r>
                    </a:p>
                  </a:txBody>
                  <a:tcPr marL="91440" marR="91440" marT="18288" marB="18288" anchor="ctr">
                    <a:solidFill>
                      <a:srgbClr val="FFFFFF"/>
                    </a:solidFill>
                  </a:tcPr>
                </a:tc>
                <a:tc>
                  <a:txBody>
                    <a:bodyPr wrap="square"/>
                    <a:lstStyle/>
                    <a:p>
                      <a:pPr algn="ctr"/>
                      <a:r>
                        <a:rPr sz="1500" b="0">
                          <a:solidFill>
                            <a:srgbClr val="1A1A1A"/>
                          </a:solidFill>
                          <a:latin typeface="Calibri"/>
                        </a:rPr>
                        <a:t>0.22  n.s.</a:t>
                      </a:r>
                    </a:p>
                  </a:txBody>
                  <a:tcPr marL="91440" marR="91440" marT="18288" marB="18288" anchor="ctr">
                    <a:solidFill>
                      <a:srgbClr val="FFFFFF"/>
                    </a:solidFill>
                  </a:tcPr>
                </a:tc>
              </a:tr>
              <a:tr h="384048">
                <a:tc>
                  <a:txBody>
                    <a:bodyPr wrap="square"/>
                    <a:lstStyle/>
                    <a:p>
                      <a:pPr algn="l"/>
                      <a:r>
                        <a:rPr sz="1500" b="1">
                          <a:solidFill>
                            <a:srgbClr val="1A1A1A"/>
                          </a:solidFill>
                          <a:latin typeface="Calibri"/>
                        </a:rPr>
                        <a:t>Unweighted mean</a:t>
                      </a:r>
                    </a:p>
                  </a:txBody>
                  <a:tcPr marL="91440" marR="91440" marT="18288" marB="18288" anchor="ctr">
                    <a:solidFill>
                      <a:srgbClr val="CFE3C4"/>
                    </a:solidFill>
                  </a:tcPr>
                </a:tc>
                <a:tc>
                  <a:txBody>
                    <a:bodyPr wrap="square"/>
                    <a:lstStyle/>
                    <a:p>
                      <a:pPr algn="ctr"/>
                      <a:r>
                        <a:rPr sz="1500" b="1">
                          <a:solidFill>
                            <a:srgbClr val="1A1A1A"/>
                          </a:solidFill>
                          <a:latin typeface="Calibri"/>
                        </a:rPr>
                        <a:t>0.7665</a:t>
                      </a:r>
                    </a:p>
                  </a:txBody>
                  <a:tcPr marL="91440" marR="91440" marT="18288" marB="18288" anchor="ctr">
                    <a:solidFill>
                      <a:srgbClr val="CFE3C4"/>
                    </a:solidFill>
                  </a:tcPr>
                </a:tc>
                <a:tc>
                  <a:txBody>
                    <a:bodyPr wrap="square"/>
                    <a:lstStyle/>
                    <a:p>
                      <a:pPr algn="ctr"/>
                      <a:r>
                        <a:rPr sz="1500" b="1">
                          <a:solidFill>
                            <a:srgbClr val="1A1A1A"/>
                          </a:solidFill>
                          <a:latin typeface="Calibri"/>
                        </a:rPr>
                        <a:t>0.6405</a:t>
                      </a:r>
                    </a:p>
                  </a:txBody>
                  <a:tcPr marL="91440" marR="91440" marT="18288" marB="18288" anchor="ctr">
                    <a:solidFill>
                      <a:srgbClr val="CFE3C4"/>
                    </a:solidFill>
                  </a:tcPr>
                </a:tc>
                <a:tc>
                  <a:txBody>
                    <a:bodyPr wrap="square"/>
                    <a:lstStyle/>
                    <a:p>
                      <a:pPr algn="ctr"/>
                      <a:r>
                        <a:rPr sz="1500" b="1">
                          <a:solidFill>
                            <a:srgbClr val="1A1A1A"/>
                          </a:solidFill>
                          <a:latin typeface="Calibri"/>
                        </a:rPr>
                        <a:t>+0.0584</a:t>
                      </a:r>
                    </a:p>
                  </a:txBody>
                  <a:tcPr marL="91440" marR="91440" marT="18288" marB="18288" anchor="ctr">
                    <a:solidFill>
                      <a:srgbClr val="CFE3C4"/>
                    </a:solidFill>
                  </a:tcPr>
                </a:tc>
                <a:tc>
                  <a:txBody>
                    <a:bodyPr wrap="square"/>
                    <a:lstStyle/>
                    <a:p>
                      <a:pPr algn="ctr"/>
                      <a:r>
                        <a:rPr sz="1500" b="1">
                          <a:solidFill>
                            <a:srgbClr val="1A1A1A"/>
                          </a:solidFill>
                          <a:latin typeface="Calibri"/>
                        </a:rPr>
                        <a:t>—</a:t>
                      </a:r>
                    </a:p>
                  </a:txBody>
                  <a:tcPr marL="91440" marR="91440" marT="18288" marB="18288" anchor="ctr">
                    <a:solidFill>
                      <a:srgbClr val="CFE3C4"/>
                    </a:solidFill>
                  </a:tcPr>
                </a:tc>
                <a:tc>
                  <a:txBody>
                    <a:bodyPr wrap="square"/>
                    <a:lstStyle/>
                    <a:p>
                      <a:pPr algn="ctr"/>
                      <a:r>
                        <a:rPr sz="1500" b="1">
                          <a:solidFill>
                            <a:srgbClr val="1A1A1A"/>
                          </a:solidFill>
                          <a:latin typeface="Calibri"/>
                        </a:rPr>
                        <a:t>control</a:t>
                      </a:r>
                    </a:p>
                  </a:txBody>
                  <a:tcPr marL="91440" marR="91440" marT="18288" marB="18288" anchor="ctr">
                    <a:solidFill>
                      <a:srgbClr val="CFE3C4"/>
                    </a:solidFill>
                  </a:tcPr>
                </a:tc>
              </a:tr>
              <a:tr h="384048">
                <a:tc>
                  <a:txBody>
                    <a:bodyPr wrap="square"/>
                    <a:lstStyle/>
                    <a:p>
                      <a:pPr algn="l"/>
                      <a:r>
                        <a:rPr sz="1500" b="0">
                          <a:solidFill>
                            <a:srgbClr val="1A1A1A"/>
                          </a:solidFill>
                          <a:latin typeface="Calibri"/>
                        </a:rPr>
                        <a:t>Trimmed mean</a:t>
                      </a:r>
                    </a:p>
                  </a:txBody>
                  <a:tcPr marL="91440" marR="91440" marT="18288" marB="18288" anchor="ctr">
                    <a:solidFill>
                      <a:srgbClr val="FFFFFF"/>
                    </a:solidFill>
                  </a:tcPr>
                </a:tc>
                <a:tc>
                  <a:txBody>
                    <a:bodyPr wrap="square"/>
                    <a:lstStyle/>
                    <a:p>
                      <a:pPr algn="ctr"/>
                      <a:r>
                        <a:rPr sz="1500" b="0">
                          <a:solidFill>
                            <a:srgbClr val="1A1A1A"/>
                          </a:solidFill>
                          <a:latin typeface="Calibri"/>
                        </a:rPr>
                        <a:t>0.7691</a:t>
                      </a:r>
                    </a:p>
                  </a:txBody>
                  <a:tcPr marL="91440" marR="91440" marT="18288" marB="18288" anchor="ctr">
                    <a:solidFill>
                      <a:srgbClr val="FFFFFF"/>
                    </a:solidFill>
                  </a:tcPr>
                </a:tc>
                <a:tc>
                  <a:txBody>
                    <a:bodyPr wrap="square"/>
                    <a:lstStyle/>
                    <a:p>
                      <a:pPr algn="ctr"/>
                      <a:r>
                        <a:rPr sz="1500" b="0">
                          <a:solidFill>
                            <a:srgbClr val="1A1A1A"/>
                          </a:solidFill>
                          <a:latin typeface="Calibri"/>
                        </a:rPr>
                        <a:t>0.6143</a:t>
                      </a:r>
                    </a:p>
                  </a:txBody>
                  <a:tcPr marL="91440" marR="91440" marT="18288" marB="18288" anchor="ctr">
                    <a:solidFill>
                      <a:srgbClr val="FFFFFF"/>
                    </a:solidFill>
                  </a:tcPr>
                </a:tc>
                <a:tc>
                  <a:txBody>
                    <a:bodyPr wrap="square"/>
                    <a:lstStyle/>
                    <a:p>
                      <a:pPr algn="ctr"/>
                      <a:r>
                        <a:rPr sz="1500" b="0">
                          <a:solidFill>
                            <a:srgbClr val="1A1A1A"/>
                          </a:solidFill>
                          <a:latin typeface="Calibri"/>
                        </a:rPr>
                        <a:t>+0.0610</a:t>
                      </a:r>
                    </a:p>
                  </a:txBody>
                  <a:tcPr marL="91440" marR="91440" marT="18288" marB="18288" anchor="ctr">
                    <a:solidFill>
                      <a:srgbClr val="FFFFFF"/>
                    </a:solidFill>
                  </a:tcPr>
                </a:tc>
                <a:tc>
                  <a:txBody>
                    <a:bodyPr wrap="square"/>
                    <a:lstStyle/>
                    <a:p>
                      <a:pPr algn="ctr"/>
                      <a:r>
                        <a:rPr sz="1500" b="0">
                          <a:solidFill>
                            <a:srgbClr val="1A1A1A"/>
                          </a:solidFill>
                          <a:latin typeface="Calibri"/>
                        </a:rPr>
                        <a:t>+0.0026</a:t>
                      </a:r>
                    </a:p>
                  </a:txBody>
                  <a:tcPr marL="91440" marR="91440" marT="18288" marB="18288" anchor="ctr">
                    <a:solidFill>
                      <a:srgbClr val="FFFFFF"/>
                    </a:solidFill>
                  </a:tcPr>
                </a:tc>
                <a:tc>
                  <a:txBody>
                    <a:bodyPr wrap="square"/>
                    <a:lstStyle/>
                    <a:p>
                      <a:pPr algn="ctr"/>
                      <a:r>
                        <a:rPr sz="1500" b="0">
                          <a:solidFill>
                            <a:srgbClr val="1A1A1A"/>
                          </a:solidFill>
                          <a:latin typeface="Calibri"/>
                        </a:rPr>
                        <a:t>0.0036</a:t>
                      </a:r>
                    </a:p>
                  </a:txBody>
                  <a:tcPr marL="91440" marR="91440" marT="18288" marB="18288" anchor="ctr">
                    <a:solidFill>
                      <a:srgbClr val="FFFFFF"/>
                    </a:solidFill>
                  </a:tcPr>
                </a:tc>
              </a:tr>
              <a:tr h="384048">
                <a:tc>
                  <a:txBody>
                    <a:bodyPr wrap="square"/>
                    <a:lstStyle/>
                    <a:p>
                      <a:pPr algn="l"/>
                      <a:r>
                        <a:rPr sz="1500" b="0">
                          <a:solidFill>
                            <a:srgbClr val="1A1A1A"/>
                          </a:solidFill>
                          <a:latin typeface="Calibri"/>
                        </a:rPr>
                        <a:t>CS-Agg</a:t>
                      </a:r>
                    </a:p>
                  </a:txBody>
                  <a:tcPr marL="91440" marR="91440" marT="18288" marB="18288" anchor="ctr">
                    <a:solidFill>
                      <a:srgbClr val="E2F0D9"/>
                    </a:solidFill>
                  </a:tcPr>
                </a:tc>
                <a:tc>
                  <a:txBody>
                    <a:bodyPr wrap="square"/>
                    <a:lstStyle/>
                    <a:p>
                      <a:pPr algn="ctr"/>
                      <a:r>
                        <a:rPr sz="1500" b="0">
                          <a:solidFill>
                            <a:srgbClr val="1A1A1A"/>
                          </a:solidFill>
                          <a:latin typeface="Calibri"/>
                        </a:rPr>
                        <a:t>0.7746</a:t>
                      </a:r>
                    </a:p>
                  </a:txBody>
                  <a:tcPr marL="91440" marR="91440" marT="18288" marB="18288" anchor="ctr">
                    <a:solidFill>
                      <a:srgbClr val="E2F0D9"/>
                    </a:solidFill>
                  </a:tcPr>
                </a:tc>
                <a:tc>
                  <a:txBody>
                    <a:bodyPr wrap="square"/>
                    <a:lstStyle/>
                    <a:p>
                      <a:pPr algn="ctr"/>
                      <a:r>
                        <a:rPr sz="1500" b="0">
                          <a:solidFill>
                            <a:srgbClr val="1A1A1A"/>
                          </a:solidFill>
                          <a:latin typeface="Calibri"/>
                        </a:rPr>
                        <a:t>0.7025</a:t>
                      </a:r>
                    </a:p>
                  </a:txBody>
                  <a:tcPr marL="91440" marR="91440" marT="18288" marB="18288" anchor="ctr">
                    <a:solidFill>
                      <a:srgbClr val="E2F0D9"/>
                    </a:solidFill>
                  </a:tcPr>
                </a:tc>
                <a:tc>
                  <a:txBody>
                    <a:bodyPr wrap="square"/>
                    <a:lstStyle/>
                    <a:p>
                      <a:pPr algn="ctr"/>
                      <a:r>
                        <a:rPr sz="1500" b="0">
                          <a:solidFill>
                            <a:srgbClr val="1A1A1A"/>
                          </a:solidFill>
                          <a:latin typeface="Calibri"/>
                        </a:rPr>
                        <a:t>+0.0665</a:t>
                      </a:r>
                    </a:p>
                  </a:txBody>
                  <a:tcPr marL="91440" marR="91440" marT="18288" marB="18288" anchor="ctr">
                    <a:solidFill>
                      <a:srgbClr val="E2F0D9"/>
                    </a:solidFill>
                  </a:tcPr>
                </a:tc>
                <a:tc>
                  <a:txBody>
                    <a:bodyPr wrap="square"/>
                    <a:lstStyle/>
                    <a:p>
                      <a:pPr algn="ctr"/>
                      <a:r>
                        <a:rPr sz="1500" b="0">
                          <a:solidFill>
                            <a:srgbClr val="1A1A1A"/>
                          </a:solidFill>
                          <a:latin typeface="Calibri"/>
                        </a:rPr>
                        <a:t>+0.0081</a:t>
                      </a:r>
                    </a:p>
                  </a:txBody>
                  <a:tcPr marL="91440" marR="91440" marT="18288" marB="18288" anchor="ctr">
                    <a:solidFill>
                      <a:srgbClr val="E2F0D9"/>
                    </a:solidFill>
                  </a:tcPr>
                </a:tc>
                <a:tc>
                  <a:txBody>
                    <a:bodyPr wrap="square"/>
                    <a:lstStyle/>
                    <a:p>
                      <a:pPr algn="ctr"/>
                      <a:r>
                        <a:rPr sz="1500" b="0">
                          <a:solidFill>
                            <a:srgbClr val="1A1A1A"/>
                          </a:solidFill>
                          <a:latin typeface="Calibri"/>
                        </a:rPr>
                        <a:t>0.22  n.s.</a:t>
                      </a:r>
                    </a:p>
                  </a:txBody>
                  <a:tcPr marL="91440" marR="91440" marT="18288" marB="18288" anchor="ctr">
                    <a:solidFill>
                      <a:srgbClr val="E2F0D9"/>
                    </a:solidFill>
                  </a:tcPr>
                </a:tc>
              </a:tr>
              <a:tr h="384048">
                <a:tc>
                  <a:txBody>
                    <a:bodyPr wrap="square"/>
                    <a:lstStyle/>
                    <a:p>
                      <a:pPr algn="l"/>
                      <a:r>
                        <a:rPr sz="1500" b="0">
                          <a:solidFill>
                            <a:srgbClr val="1A1A1A"/>
                          </a:solidFill>
                          <a:latin typeface="Calibri"/>
                        </a:rPr>
                        <a:t>Coord. median</a:t>
                      </a:r>
                    </a:p>
                  </a:txBody>
                  <a:tcPr marL="91440" marR="91440" marT="18288" marB="18288" anchor="ctr">
                    <a:solidFill>
                      <a:srgbClr val="FFFFFF"/>
                    </a:solidFill>
                  </a:tcPr>
                </a:tc>
                <a:tc>
                  <a:txBody>
                    <a:bodyPr wrap="square"/>
                    <a:lstStyle/>
                    <a:p>
                      <a:pPr algn="ctr"/>
                      <a:r>
                        <a:rPr sz="1500" b="0">
                          <a:solidFill>
                            <a:srgbClr val="1A1A1A"/>
                          </a:solidFill>
                          <a:latin typeface="Calibri"/>
                        </a:rPr>
                        <a:t>0.7828</a:t>
                      </a:r>
                    </a:p>
                  </a:txBody>
                  <a:tcPr marL="91440" marR="91440" marT="18288" marB="18288" anchor="ctr">
                    <a:solidFill>
                      <a:srgbClr val="FFFFFF"/>
                    </a:solidFill>
                  </a:tcPr>
                </a:tc>
                <a:tc>
                  <a:txBody>
                    <a:bodyPr wrap="square"/>
                    <a:lstStyle/>
                    <a:p>
                      <a:pPr algn="ctr"/>
                      <a:r>
                        <a:rPr sz="1500" b="0">
                          <a:solidFill>
                            <a:srgbClr val="1A1A1A"/>
                          </a:solidFill>
                          <a:latin typeface="Calibri"/>
                        </a:rPr>
                        <a:t>0.7279</a:t>
                      </a:r>
                    </a:p>
                  </a:txBody>
                  <a:tcPr marL="91440" marR="91440" marT="18288" marB="18288" anchor="ctr">
                    <a:solidFill>
                      <a:srgbClr val="FFFFFF"/>
                    </a:solidFill>
                  </a:tcPr>
                </a:tc>
                <a:tc>
                  <a:txBody>
                    <a:bodyPr wrap="square"/>
                    <a:lstStyle/>
                    <a:p>
                      <a:pPr algn="ctr"/>
                      <a:r>
                        <a:rPr sz="1500" b="0">
                          <a:solidFill>
                            <a:srgbClr val="1A1A1A"/>
                          </a:solidFill>
                          <a:latin typeface="Calibri"/>
                        </a:rPr>
                        <a:t>+0.0747</a:t>
                      </a:r>
                    </a:p>
                  </a:txBody>
                  <a:tcPr marL="91440" marR="91440" marT="18288" marB="18288" anchor="ctr">
                    <a:solidFill>
                      <a:srgbClr val="FFFFFF"/>
                    </a:solidFill>
                  </a:tcPr>
                </a:tc>
                <a:tc>
                  <a:txBody>
                    <a:bodyPr wrap="square"/>
                    <a:lstStyle/>
                    <a:p>
                      <a:pPr algn="ctr"/>
                      <a:r>
                        <a:rPr sz="1500" b="0">
                          <a:solidFill>
                            <a:srgbClr val="1A1A1A"/>
                          </a:solidFill>
                          <a:latin typeface="Calibri"/>
                        </a:rPr>
                        <a:t>+0.0163</a:t>
                      </a:r>
                    </a:p>
                  </a:txBody>
                  <a:tcPr marL="91440" marR="91440" marT="18288" marB="18288" anchor="ctr">
                    <a:solidFill>
                      <a:srgbClr val="FFFFFF"/>
                    </a:solidFill>
                  </a:tcPr>
                </a:tc>
                <a:tc>
                  <a:txBody>
                    <a:bodyPr wrap="square"/>
                    <a:lstStyle/>
                    <a:p>
                      <a:pPr algn="ctr"/>
                      <a:r>
                        <a:rPr sz="1500" b="0">
                          <a:solidFill>
                            <a:srgbClr val="1A1A1A"/>
                          </a:solidFill>
                          <a:latin typeface="Calibri"/>
                        </a:rPr>
                        <a:t>&lt; 0.0001</a:t>
                      </a:r>
                    </a:p>
                  </a:txBody>
                  <a:tcPr marL="91440" marR="91440" marT="18288" marB="18288" anchor="ctr">
                    <a:solidFill>
                      <a:srgbClr val="FFFFFF"/>
                    </a:solidFill>
                  </a:tcPr>
                </a:tc>
              </a:tr>
            </a:tbl>
          </a:graphicData>
        </a:graphic>
      </p:graphicFrame>
      <p:sp>
        <p:nvSpPr>
          <p:cNvPr id="37" name="TextBox 36"/>
          <p:cNvSpPr txBox="1"/>
          <p:nvPr/>
        </p:nvSpPr>
        <p:spPr>
          <a:xfrm>
            <a:off x="7644383" y="21934278"/>
            <a:ext cx="6638544" cy="740446"/>
          </a:xfrm>
          <a:prstGeom prst="rect">
            <a:avLst/>
          </a:prstGeom>
          <a:noFill/>
        </p:spPr>
        <p:txBody>
          <a:bodyPr wrap="square" lIns="54864" rIns="0" tIns="0" bIns="0">
            <a:spAutoFit/>
          </a:bodyPr>
          <a:lstStyle/>
          <a:p>
            <a:pPr>
              <a:spcBef>
                <a:spcPts val="0"/>
              </a:spcBef>
              <a:spcAft>
                <a:spcPts val="800"/>
              </a:spcAft>
            </a:pPr>
            <a:r>
              <a:rPr sz="1700" i="1">
                <a:solidFill>
                  <a:srgbClr val="444444"/>
                </a:solidFill>
                <a:latin typeface="Calibri"/>
              </a:rPr>
              <a:t>36 runs per rule on BRFSS, every condition pooled. Holm-corrected Wilcoxon signed-rank against the control.</a:t>
            </a:r>
          </a:p>
        </p:txBody>
      </p:sp>
      <p:sp>
        <p:nvSpPr>
          <p:cNvPr id="38" name="TextBox 37"/>
          <p:cNvSpPr txBox="1"/>
          <p:nvPr/>
        </p:nvSpPr>
        <p:spPr>
          <a:xfrm>
            <a:off x="7644383" y="22857605"/>
            <a:ext cx="6638544" cy="1095973"/>
          </a:xfrm>
          <a:prstGeom prst="rect">
            <a:avLst/>
          </a:prstGeom>
          <a:noFill/>
        </p:spPr>
        <p:txBody>
          <a:bodyPr wrap="square" lIns="54864" rIns="0" tIns="0" bIns="0">
            <a:spAutoFit/>
          </a:bodyPr>
          <a:lstStyle/>
          <a:p>
            <a:pPr indent="-215900" marL="215900">
              <a:spcBef>
                <a:spcPts val="0"/>
              </a:spcBef>
              <a:spcAft>
                <a:spcPts val="800"/>
              </a:spcAft>
              <a:buFont typeface="Arial"/>
              <a:buChar char="•"/>
            </a:pPr>
            <a:r>
              <a:rPr sz="1900" i="0">
                <a:solidFill>
                  <a:srgbClr val="1A1A1A"/>
                </a:solidFill>
                <a:latin typeface="Calibri"/>
              </a:rPr>
              <a:t>Pooled across every condition the control recovers 78 to 96% of what the three strongest robust rules gain, and CS-Agg cannot be told apart from it.</a:t>
            </a:r>
          </a:p>
        </p:txBody>
      </p:sp>
      <p:sp>
        <p:nvSpPr>
          <p:cNvPr id="39" name="Rectangle 38"/>
          <p:cNvSpPr/>
          <p:nvPr/>
        </p:nvSpPr>
        <p:spPr>
          <a:xfrm>
            <a:off x="7644383" y="24136458"/>
            <a:ext cx="6638544" cy="566928"/>
          </a:xfrm>
          <a:prstGeom prst="rect">
            <a:avLst/>
          </a:prstGeom>
          <a:solidFill>
            <a:srgbClr val="3F8C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r>
              <a:rPr sz="1900" b="1">
                <a:solidFill>
                  <a:srgbClr val="FFFFFF"/>
                </a:solidFill>
                <a:latin typeface="Calibri"/>
              </a:rPr>
              <a:t>Krum is unreliable, not merely weaker</a:t>
            </a:r>
          </a:p>
        </p:txBody>
      </p:sp>
      <p:pic>
        <p:nvPicPr>
          <p:cNvPr id="40" name="Picture 39" descr="posterC_runlevel.png"/>
          <p:cNvPicPr>
            <a:picLocks noChangeAspect="1"/>
          </p:cNvPicPr>
          <p:nvPr/>
        </p:nvPicPr>
        <p:blipFill>
          <a:blip r:embed="rId7"/>
          <a:stretch>
            <a:fillRect/>
          </a:stretch>
        </p:blipFill>
        <p:spPr>
          <a:xfrm>
            <a:off x="7644383" y="24813114"/>
            <a:ext cx="6638544" cy="4937760"/>
          </a:xfrm>
          <a:prstGeom prst="rect">
            <a:avLst/>
          </a:prstGeom>
        </p:spPr>
      </p:pic>
      <p:sp>
        <p:nvSpPr>
          <p:cNvPr id="41" name="TextBox 40"/>
          <p:cNvSpPr txBox="1"/>
          <p:nvPr/>
        </p:nvSpPr>
        <p:spPr>
          <a:xfrm>
            <a:off x="7644383" y="29842314"/>
            <a:ext cx="6638544" cy="910481"/>
          </a:xfrm>
          <a:prstGeom prst="rect">
            <a:avLst/>
          </a:prstGeom>
          <a:noFill/>
        </p:spPr>
        <p:txBody>
          <a:bodyPr wrap="square" lIns="54864" rIns="0" tIns="0" bIns="0">
            <a:spAutoFit/>
          </a:bodyPr>
          <a:lstStyle/>
          <a:p>
            <a:pPr>
              <a:spcBef>
                <a:spcPts val="0"/>
              </a:spcBef>
              <a:spcAft>
                <a:spcPts val="800"/>
              </a:spcAft>
            </a:pPr>
            <a:r>
              <a:rPr sz="1500" i="0">
                <a:solidFill>
                  <a:srgbClr val="333333"/>
                </a:solidFill>
                <a:latin typeface="Calibri"/>
              </a:rPr>
              <a:t>Figure 4. The individual runs behind those means. Krum's average of 0.658 hides a run at 0.328, worse than a coin flip, while the control never falls below 0.64. An average is not evidence a rule is safe.</a:t>
            </a:r>
          </a:p>
        </p:txBody>
      </p:sp>
      <p:sp>
        <p:nvSpPr>
          <p:cNvPr id="42" name="Rectangle 41"/>
          <p:cNvSpPr/>
          <p:nvPr/>
        </p:nvSpPr>
        <p:spPr>
          <a:xfrm>
            <a:off x="14740128" y="3310128"/>
            <a:ext cx="6638544" cy="713232"/>
          </a:xfrm>
          <a:prstGeom prst="rect">
            <a:avLst/>
          </a:prstGeom>
          <a:solidFill>
            <a:srgbClr val="0074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r>
              <a:rPr sz="2500" b="1">
                <a:solidFill>
                  <a:srgbClr val="FFFFFF"/>
                </a:solidFill>
                <a:latin typeface="Calibri"/>
              </a:rPr>
              <a:t>Results, continued</a:t>
            </a:r>
          </a:p>
        </p:txBody>
      </p:sp>
      <p:sp>
        <p:nvSpPr>
          <p:cNvPr id="43" name="Rectangle 42"/>
          <p:cNvSpPr/>
          <p:nvPr/>
        </p:nvSpPr>
        <p:spPr>
          <a:xfrm>
            <a:off x="14740128" y="4133088"/>
            <a:ext cx="6638544" cy="566928"/>
          </a:xfrm>
          <a:prstGeom prst="rect">
            <a:avLst/>
          </a:prstGeom>
          <a:solidFill>
            <a:srgbClr val="3F8C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r>
              <a:rPr sz="1900" b="1">
                <a:solidFill>
                  <a:srgbClr val="FFFFFF"/>
                </a:solidFill>
                <a:latin typeface="Calibri"/>
              </a:rPr>
              <a:t>Lopsided data hurts far more than broken labels</a:t>
            </a:r>
          </a:p>
        </p:txBody>
      </p:sp>
      <p:pic>
        <p:nvPicPr>
          <p:cNvPr id="44" name="Picture 43" descr="posterG_stressors.png"/>
          <p:cNvPicPr>
            <a:picLocks noChangeAspect="1"/>
          </p:cNvPicPr>
          <p:nvPr/>
        </p:nvPicPr>
        <p:blipFill>
          <a:blip r:embed="rId8"/>
          <a:stretch>
            <a:fillRect/>
          </a:stretch>
        </p:blipFill>
        <p:spPr>
          <a:xfrm>
            <a:off x="14740128" y="4809744"/>
            <a:ext cx="6638544" cy="3931920"/>
          </a:xfrm>
          <a:prstGeom prst="rect">
            <a:avLst/>
          </a:prstGeom>
        </p:spPr>
      </p:pic>
      <p:sp>
        <p:nvSpPr>
          <p:cNvPr id="45" name="TextBox 44"/>
          <p:cNvSpPr txBox="1"/>
          <p:nvPr/>
        </p:nvSpPr>
        <p:spPr>
          <a:xfrm>
            <a:off x="14740128" y="8833104"/>
            <a:ext cx="6638544" cy="910481"/>
          </a:xfrm>
          <a:prstGeom prst="rect">
            <a:avLst/>
          </a:prstGeom>
          <a:noFill/>
        </p:spPr>
        <p:txBody>
          <a:bodyPr wrap="square" lIns="54864" rIns="0" tIns="0" bIns="0">
            <a:spAutoFit/>
          </a:bodyPr>
          <a:lstStyle/>
          <a:p>
            <a:pPr>
              <a:spcBef>
                <a:spcPts val="0"/>
              </a:spcBef>
              <a:spcAft>
                <a:spcPts val="800"/>
              </a:spcAft>
            </a:pPr>
            <a:r>
              <a:rPr sz="1500" i="0">
                <a:solidFill>
                  <a:srgbClr val="333333"/>
                </a:solidFill>
                <a:latin typeface="Calibri"/>
              </a:rPr>
              <a:t>Figure 5. Both stressors, measured on FedAvg. Lopsided data costs 149 times more AUC than broken labels do, so robustness work aimed at noisy labels is aimed at the smaller problem.</a:t>
            </a:r>
          </a:p>
        </p:txBody>
      </p:sp>
      <p:sp>
        <p:nvSpPr>
          <p:cNvPr id="46" name="TextBox 45"/>
          <p:cNvSpPr txBox="1"/>
          <p:nvPr/>
        </p:nvSpPr>
        <p:spPr>
          <a:xfrm>
            <a:off x="14740128" y="9926465"/>
            <a:ext cx="6638544" cy="802277"/>
          </a:xfrm>
          <a:prstGeom prst="rect">
            <a:avLst/>
          </a:prstGeom>
          <a:noFill/>
        </p:spPr>
        <p:txBody>
          <a:bodyPr wrap="square" lIns="54864" rIns="0" tIns="0" bIns="0">
            <a:spAutoFit/>
          </a:bodyPr>
          <a:lstStyle/>
          <a:p>
            <a:pPr indent="-215900" marL="215900">
              <a:spcBef>
                <a:spcPts val="0"/>
              </a:spcBef>
              <a:spcAft>
                <a:spcPts val="800"/>
              </a:spcAft>
              <a:buFont typeface="Arial"/>
              <a:buChar char="•"/>
            </a:pPr>
            <a:r>
              <a:rPr sz="1900" i="0">
                <a:solidFill>
                  <a:srgbClr val="1A1A1A"/>
                </a:solidFill>
                <a:latin typeface="Calibri"/>
              </a:rPr>
              <a:t>That 149x gap narrows to about 14x when sites track twelve health variables instead of four, but it never closes.</a:t>
            </a:r>
          </a:p>
        </p:txBody>
      </p:sp>
      <p:sp>
        <p:nvSpPr>
          <p:cNvPr id="47" name="Rectangle 46"/>
          <p:cNvSpPr/>
          <p:nvPr/>
        </p:nvSpPr>
        <p:spPr>
          <a:xfrm>
            <a:off x="14740128" y="10911622"/>
            <a:ext cx="6638544" cy="566928"/>
          </a:xfrm>
          <a:prstGeom prst="rect">
            <a:avLst/>
          </a:prstGeom>
          <a:solidFill>
            <a:srgbClr val="3F8C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r>
              <a:rPr sz="1900" b="1">
                <a:solidFill>
                  <a:srgbClr val="FFFFFF"/>
                </a:solidFill>
                <a:latin typeface="Calibri"/>
              </a:rPr>
              <a:t>A clean benchmark would have hidden all of this</a:t>
            </a:r>
          </a:p>
        </p:txBody>
      </p:sp>
      <p:pic>
        <p:nvPicPr>
          <p:cNvPr id="48" name="Picture 47" descr="posterB_both_datasets.png"/>
          <p:cNvPicPr>
            <a:picLocks noChangeAspect="1"/>
          </p:cNvPicPr>
          <p:nvPr/>
        </p:nvPicPr>
        <p:blipFill>
          <a:blip r:embed="rId9"/>
          <a:stretch>
            <a:fillRect/>
          </a:stretch>
        </p:blipFill>
        <p:spPr>
          <a:xfrm>
            <a:off x="14740128" y="11588278"/>
            <a:ext cx="6638544" cy="4663440"/>
          </a:xfrm>
          <a:prstGeom prst="rect">
            <a:avLst/>
          </a:prstGeom>
        </p:spPr>
      </p:pic>
      <p:sp>
        <p:nvSpPr>
          <p:cNvPr id="49" name="TextBox 48"/>
          <p:cNvSpPr txBox="1"/>
          <p:nvPr/>
        </p:nvSpPr>
        <p:spPr>
          <a:xfrm>
            <a:off x="14740128" y="16343158"/>
            <a:ext cx="6638544" cy="910481"/>
          </a:xfrm>
          <a:prstGeom prst="rect">
            <a:avLst/>
          </a:prstGeom>
          <a:noFill/>
        </p:spPr>
        <p:txBody>
          <a:bodyPr wrap="square" lIns="54864" rIns="0" tIns="0" bIns="0">
            <a:spAutoFit/>
          </a:bodyPr>
          <a:lstStyle/>
          <a:p>
            <a:pPr>
              <a:spcBef>
                <a:spcPts val="0"/>
              </a:spcBef>
              <a:spcAft>
                <a:spcPts val="800"/>
              </a:spcAft>
            </a:pPr>
            <a:r>
              <a:rPr sz="1500" i="0">
                <a:solidFill>
                  <a:srgbClr val="333333"/>
                </a:solidFill>
                <a:latin typeface="Calibri"/>
              </a:rPr>
              <a:t>Figure 6. Both datasets, averaged over every split, noise level and seed (252 runs each). On the clean benchmark every rule but Krum reaches 0.997, so a study run only there would have found nothing.</a:t>
            </a:r>
          </a:p>
        </p:txBody>
      </p:sp>
      <p:sp>
        <p:nvSpPr>
          <p:cNvPr id="50" name="TextBox 49"/>
          <p:cNvSpPr txBox="1"/>
          <p:nvPr/>
        </p:nvSpPr>
        <p:spPr>
          <a:xfrm>
            <a:off x="14740128" y="17436519"/>
            <a:ext cx="6638544" cy="802277"/>
          </a:xfrm>
          <a:prstGeom prst="rect">
            <a:avLst/>
          </a:prstGeom>
          <a:noFill/>
        </p:spPr>
        <p:txBody>
          <a:bodyPr wrap="square" lIns="54864" rIns="0" tIns="0" bIns="0">
            <a:spAutoFit/>
          </a:bodyPr>
          <a:lstStyle/>
          <a:p>
            <a:pPr indent="-215900" marL="215900">
              <a:spcBef>
                <a:spcPts val="0"/>
              </a:spcBef>
              <a:spcAft>
                <a:spcPts val="800"/>
              </a:spcAft>
              <a:buFont typeface="Arial"/>
              <a:buChar char="•"/>
            </a:pPr>
            <a:r>
              <a:rPr sz="1900" i="0">
                <a:solidFill>
                  <a:srgbClr val="1A1A1A"/>
                </a:solidFill>
                <a:latin typeface="Calibri"/>
              </a:rPr>
              <a:t>Messy, self-reported population health data is where these rules actually separate.</a:t>
            </a:r>
          </a:p>
        </p:txBody>
      </p:sp>
      <p:sp>
        <p:nvSpPr>
          <p:cNvPr id="51" name="Rectangle 50"/>
          <p:cNvSpPr/>
          <p:nvPr/>
        </p:nvSpPr>
        <p:spPr>
          <a:xfrm>
            <a:off x="14740128" y="18421676"/>
            <a:ext cx="6638544" cy="713232"/>
          </a:xfrm>
          <a:prstGeom prst="rect">
            <a:avLst/>
          </a:prstGeom>
          <a:solidFill>
            <a:srgbClr val="0074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r>
              <a:rPr sz="2500" b="1">
                <a:solidFill>
                  <a:srgbClr val="FFFFFF"/>
                </a:solidFill>
                <a:latin typeface="Calibri"/>
              </a:rPr>
              <a:t>Future Directions</a:t>
            </a:r>
          </a:p>
        </p:txBody>
      </p:sp>
      <p:sp>
        <p:nvSpPr>
          <p:cNvPr id="52" name="TextBox 51"/>
          <p:cNvSpPr txBox="1"/>
          <p:nvPr/>
        </p:nvSpPr>
        <p:spPr>
          <a:xfrm>
            <a:off x="14740128" y="19244636"/>
            <a:ext cx="6638544" cy="1806810"/>
          </a:xfrm>
          <a:prstGeom prst="rect">
            <a:avLst/>
          </a:prstGeom>
          <a:noFill/>
        </p:spPr>
        <p:txBody>
          <a:bodyPr wrap="square" lIns="54864" rIns="0" tIns="0" bIns="0">
            <a:spAutoFit/>
          </a:bodyPr>
          <a:lstStyle/>
          <a:p>
            <a:pPr indent="-215900" marL="215900">
              <a:spcBef>
                <a:spcPts val="0"/>
              </a:spcBef>
              <a:spcAft>
                <a:spcPts val="800"/>
              </a:spcAft>
              <a:buFont typeface="Arial"/>
              <a:buChar char="•"/>
            </a:pPr>
            <a:r>
              <a:rPr sz="1900" i="0">
                <a:solidFill>
                  <a:srgbClr val="1A1A1A"/>
                </a:solidFill>
                <a:latin typeface="Calibri"/>
              </a:rPr>
              <a:t>Test adaptive Byzantine attackers, not only the label noise studied here.</a:t>
            </a:r>
          </a:p>
          <a:p>
            <a:pPr indent="-215900" marL="215900">
              <a:spcBef>
                <a:spcPts val="0"/>
              </a:spcBef>
              <a:spcAft>
                <a:spcPts val="800"/>
              </a:spcAft>
              <a:buFont typeface="Arial"/>
              <a:buChar char="•"/>
            </a:pPr>
            <a:r>
              <a:rPr sz="1900" i="0">
                <a:solidFill>
                  <a:srgbClr val="1A1A1A"/>
                </a:solidFill>
                <a:latin typeface="Calibri"/>
              </a:rPr>
              <a:t>Replace the simulated split with data partitioned across real institutions, and check that the weighting effect holds for deeper models and more sites.</a:t>
            </a:r>
          </a:p>
        </p:txBody>
      </p:sp>
      <p:sp>
        <p:nvSpPr>
          <p:cNvPr id="53" name="Rectangle 52"/>
          <p:cNvSpPr/>
          <p:nvPr/>
        </p:nvSpPr>
        <p:spPr>
          <a:xfrm>
            <a:off x="14740128" y="21234327"/>
            <a:ext cx="6638544" cy="713232"/>
          </a:xfrm>
          <a:prstGeom prst="rect">
            <a:avLst/>
          </a:prstGeom>
          <a:solidFill>
            <a:srgbClr val="0074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r>
              <a:rPr sz="2500" b="1">
                <a:solidFill>
                  <a:srgbClr val="FFFFFF"/>
                </a:solidFill>
                <a:latin typeface="Calibri"/>
              </a:rPr>
              <a:t>Conclusions</a:t>
            </a:r>
          </a:p>
        </p:txBody>
      </p:sp>
      <p:sp>
        <p:nvSpPr>
          <p:cNvPr id="54" name="TextBox 53"/>
          <p:cNvSpPr txBox="1"/>
          <p:nvPr/>
        </p:nvSpPr>
        <p:spPr>
          <a:xfrm>
            <a:off x="14740128" y="22057287"/>
            <a:ext cx="6638544" cy="3522181"/>
          </a:xfrm>
          <a:prstGeom prst="rect">
            <a:avLst/>
          </a:prstGeom>
          <a:noFill/>
        </p:spPr>
        <p:txBody>
          <a:bodyPr wrap="square" lIns="54864" rIns="0" tIns="0" bIns="0">
            <a:spAutoFit/>
          </a:bodyPr>
          <a:lstStyle/>
          <a:p>
            <a:pPr indent="-215900" marL="215900">
              <a:spcBef>
                <a:spcPts val="0"/>
              </a:spcBef>
              <a:spcAft>
                <a:spcPts val="800"/>
              </a:spcAft>
              <a:buFont typeface="Arial"/>
              <a:buChar char="•"/>
            </a:pPr>
            <a:r>
              <a:rPr sz="1900" i="0">
                <a:solidFill>
                  <a:srgbClr val="1A1A1A"/>
                </a:solidFill>
                <a:latin typeface="Calibri"/>
              </a:rPr>
              <a:t>Most of the advantage robust aggregators hold over FedAvg comes from how they weight sites, not from the robust statistic they are named for.</a:t>
            </a:r>
          </a:p>
          <a:p>
            <a:pPr indent="-215900" marL="215900">
              <a:spcBef>
                <a:spcPts val="0"/>
              </a:spcBef>
              <a:spcAft>
                <a:spcPts val="800"/>
              </a:spcAft>
              <a:buFont typeface="Arial"/>
              <a:buChar char="•"/>
            </a:pPr>
            <a:r>
              <a:rPr sz="1900" i="0">
                <a:solidFill>
                  <a:srgbClr val="1A1A1A"/>
                </a:solidFill>
                <a:latin typeface="Calibri"/>
              </a:rPr>
              <a:t>Any robustness evaluation run on size-skewed data should include an unweighted-mean control.</a:t>
            </a:r>
          </a:p>
          <a:p>
            <a:pPr indent="-215900" marL="215900">
              <a:spcBef>
                <a:spcPts val="0"/>
              </a:spcBef>
              <a:spcAft>
                <a:spcPts val="800"/>
              </a:spcAft>
              <a:buFont typeface="Arial"/>
              <a:buChar char="•"/>
            </a:pPr>
            <a:r>
              <a:rPr sz="1900" i="0">
                <a:solidFill>
                  <a:srgbClr val="1A1A1A"/>
                </a:solidFill>
                <a:latin typeface="Calibri"/>
              </a:rPr>
              <a:t>The control costs one line of code, and without it a reported gain cannot be credited to robustness.</a:t>
            </a:r>
          </a:p>
          <a:p>
            <a:pPr indent="-215900" marL="215900">
              <a:spcBef>
                <a:spcPts val="0"/>
              </a:spcBef>
              <a:spcAft>
                <a:spcPts val="800"/>
              </a:spcAft>
              <a:buFont typeface="Arial"/>
              <a:buChar char="•"/>
            </a:pPr>
            <a:r>
              <a:rPr sz="1900" i="0">
                <a:solidFill>
                  <a:srgbClr val="1A1A1A"/>
                </a:solidFill>
                <a:latin typeface="Calibri"/>
              </a:rPr>
              <a:t>A rule's reputation is not evidence: Krum is widely cited and failed here, while coordinate-wise median is simple and held.</a:t>
            </a:r>
          </a:p>
        </p:txBody>
      </p:sp>
      <p:sp>
        <p:nvSpPr>
          <p:cNvPr id="55" name="Rectangle 54"/>
          <p:cNvSpPr/>
          <p:nvPr/>
        </p:nvSpPr>
        <p:spPr>
          <a:xfrm>
            <a:off x="14740128" y="25762349"/>
            <a:ext cx="6638544" cy="713232"/>
          </a:xfrm>
          <a:prstGeom prst="rect">
            <a:avLst/>
          </a:prstGeom>
          <a:solidFill>
            <a:srgbClr val="0074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r>
              <a:rPr sz="2500" b="1">
                <a:solidFill>
                  <a:srgbClr val="FFFFFF"/>
                </a:solidFill>
                <a:latin typeface="Calibri"/>
              </a:rPr>
              <a:t>Code &amp; Data</a:t>
            </a:r>
          </a:p>
        </p:txBody>
      </p:sp>
      <p:sp>
        <p:nvSpPr>
          <p:cNvPr id="56" name="TextBox 55"/>
          <p:cNvSpPr txBox="1"/>
          <p:nvPr/>
        </p:nvSpPr>
        <p:spPr>
          <a:xfrm>
            <a:off x="14740128" y="26585309"/>
            <a:ext cx="4992624" cy="1806810"/>
          </a:xfrm>
          <a:prstGeom prst="rect">
            <a:avLst/>
          </a:prstGeom>
          <a:noFill/>
        </p:spPr>
        <p:txBody>
          <a:bodyPr wrap="square" lIns="54864" rIns="0" tIns="0" bIns="0">
            <a:spAutoFit/>
          </a:bodyPr>
          <a:lstStyle/>
          <a:p>
            <a:pPr>
              <a:spcBef>
                <a:spcPts val="0"/>
              </a:spcBef>
              <a:spcAft>
                <a:spcPts val="800"/>
              </a:spcAft>
            </a:pPr>
            <a:r>
              <a:rPr sz="1900" i="0">
                <a:solidFill>
                  <a:srgbClr val="1A1A1A"/>
                </a:solidFill>
                <a:latin typeface="Calibri"/>
              </a:rPr>
              <a:t>All code, the merged results and a script that re-checks every number on this poster are openly available.</a:t>
            </a:r>
          </a:p>
          <a:p>
            <a:pPr>
              <a:spcBef>
                <a:spcPts val="0"/>
              </a:spcBef>
              <a:spcAft>
                <a:spcPts val="800"/>
              </a:spcAft>
            </a:pPr>
            <a:r>
              <a:rPr sz="1900" i="0">
                <a:solidFill>
                  <a:srgbClr val="1A1A1A"/>
                </a:solidFill>
                <a:latin typeface="Calibri"/>
              </a:rPr>
              <a:t>github.com/kunalchevuri/federated-learning-health-robustness</a:t>
            </a:r>
          </a:p>
        </p:txBody>
      </p:sp>
      <p:pic>
        <p:nvPicPr>
          <p:cNvPr id="57" name="Picture 56" descr="posterE_qr.png"/>
          <p:cNvPicPr>
            <a:picLocks noChangeAspect="1"/>
          </p:cNvPicPr>
          <p:nvPr/>
        </p:nvPicPr>
        <p:blipFill>
          <a:blip r:embed="rId10"/>
          <a:stretch>
            <a:fillRect/>
          </a:stretch>
        </p:blipFill>
        <p:spPr>
          <a:xfrm>
            <a:off x="19915632" y="26603597"/>
            <a:ext cx="1417320" cy="1417320"/>
          </a:xfrm>
          <a:prstGeom prst="rect">
            <a:avLst/>
          </a:prstGeom>
        </p:spPr>
      </p:pic>
      <p:sp>
        <p:nvSpPr>
          <p:cNvPr id="58" name="Rectangle 57"/>
          <p:cNvSpPr/>
          <p:nvPr/>
        </p:nvSpPr>
        <p:spPr>
          <a:xfrm>
            <a:off x="14740128" y="28575000"/>
            <a:ext cx="6638544" cy="713232"/>
          </a:xfrm>
          <a:prstGeom prst="rect">
            <a:avLst/>
          </a:prstGeom>
          <a:solidFill>
            <a:srgbClr val="0074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r>
              <a:rPr sz="2500" b="1">
                <a:solidFill>
                  <a:srgbClr val="FFFFFF"/>
                </a:solidFill>
                <a:latin typeface="Calibri"/>
              </a:rPr>
              <a:t>Acknowledgements</a:t>
            </a:r>
          </a:p>
        </p:txBody>
      </p:sp>
      <p:sp>
        <p:nvSpPr>
          <p:cNvPr id="59" name="TextBox 58"/>
          <p:cNvSpPr txBox="1"/>
          <p:nvPr/>
        </p:nvSpPr>
        <p:spPr>
          <a:xfrm>
            <a:off x="14740128" y="29397960"/>
            <a:ext cx="6638544" cy="1513114"/>
          </a:xfrm>
          <a:prstGeom prst="rect">
            <a:avLst/>
          </a:prstGeom>
          <a:noFill/>
        </p:spPr>
        <p:txBody>
          <a:bodyPr wrap="square" lIns="54864" rIns="0" tIns="0" bIns="0">
            <a:spAutoFit/>
          </a:bodyPr>
          <a:lstStyle/>
          <a:p>
            <a:pPr indent="-215900" marL="215900">
              <a:spcBef>
                <a:spcPts val="0"/>
              </a:spcBef>
              <a:spcAft>
                <a:spcPts val="800"/>
              </a:spcAft>
              <a:buFont typeface="Arial"/>
              <a:buChar char="•"/>
            </a:pPr>
            <a:r>
              <a:rPr sz="1900" i="0">
                <a:solidFill>
                  <a:srgbClr val="1A1A1A"/>
                </a:solidFill>
                <a:latin typeface="Calibri"/>
              </a:rPr>
              <a:t>Survey data collected and published by the Centers for Disease Control and Prevention (BRFSS 2023).</a:t>
            </a:r>
          </a:p>
          <a:p>
            <a:pPr indent="-215900" marL="215900">
              <a:spcBef>
                <a:spcPts val="0"/>
              </a:spcBef>
              <a:spcAft>
                <a:spcPts val="800"/>
              </a:spcAft>
              <a:buFont typeface="Arial"/>
              <a:buChar char="•"/>
            </a:pPr>
            <a:r>
              <a:rPr sz="1900" i="0">
                <a:solidFill>
                  <a:srgbClr val="1A1A1A"/>
                </a:solidFill>
                <a:latin typeface="Calibri"/>
              </a:rPr>
              <a:t>Carried out in the Computational Healthcare and Biotechnology Lab, University of North Texas.</a:t>
            </a:r>
          </a:p>
        </p:txBody>
      </p:sp>
    </p:spTree>
    <p:extLst>
      <p:ext uri="{BB962C8B-B14F-4D97-AF65-F5344CB8AC3E}">
        <p14:creationId xmlns:p14="http://schemas.microsoft.com/office/powerpoint/2010/main" val="1040036484"/>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5C000D45010C7498D05733EBEC534BB" ma:contentTypeVersion="14" ma:contentTypeDescription="Create a new document." ma:contentTypeScope="" ma:versionID="666928a412aa3dea9808672f3c058c78">
  <xsd:schema xmlns:xsd="http://www.w3.org/2001/XMLSchema" xmlns:xs="http://www.w3.org/2001/XMLSchema" xmlns:p="http://schemas.microsoft.com/office/2006/metadata/properties" xmlns:ns3="1ae659e6-6caa-423e-b45e-6e0e75551422" xmlns:ns4="d00c5bf2-b36b-4152-bf85-3189f2158ece" targetNamespace="http://schemas.microsoft.com/office/2006/metadata/properties" ma:root="true" ma:fieldsID="aef7f1b3973d20bec3fae934efbd0a2b" ns3:_="" ns4:_="">
    <xsd:import namespace="1ae659e6-6caa-423e-b45e-6e0e75551422"/>
    <xsd:import namespace="d00c5bf2-b36b-4152-bf85-3189f2158ece"/>
    <xsd:element name="properties">
      <xsd:complexType>
        <xsd:sequence>
          <xsd:element name="documentManagement">
            <xsd:complexType>
              <xsd:all>
                <xsd:element ref="ns3:MediaServiceMetadata" minOccurs="0"/>
                <xsd:element ref="ns3:MediaServiceFastMetadata" minOccurs="0"/>
                <xsd:element ref="ns3:MediaServiceAutoTags" minOccurs="0"/>
                <xsd:element ref="ns3:MediaServiceOCR" minOccurs="0"/>
                <xsd:element ref="ns3:MediaServiceDateTaken" minOccurs="0"/>
                <xsd:element ref="ns4:SharedWithUsers" minOccurs="0"/>
                <xsd:element ref="ns4:SharedWithDetails" minOccurs="0"/>
                <xsd:element ref="ns4:SharingHintHash" minOccurs="0"/>
                <xsd:element ref="ns3:MediaServiceGenerationTime" minOccurs="0"/>
                <xsd:element ref="ns3:MediaServiceEventHashCode" minOccurs="0"/>
                <xsd:element ref="ns3:MediaServiceAutoKeyPoints" minOccurs="0"/>
                <xsd:element ref="ns3:MediaServiceKeyPoints" minOccurs="0"/>
                <xsd:element ref="ns3:MediaLengthInSeconds"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e659e6-6caa-423e-b45e-6e0e7555142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MediaServiceLocation" ma:index="21"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00c5bf2-b36b-4152-bf85-3189f2158ece"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SharingHintHash" ma:index="15"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1D5FCE8-B829-45B1-A51F-D8BECFA6CED7}">
  <ds:schemaRefs>
    <ds:schemaRef ds:uri="d00c5bf2-b36b-4152-bf85-3189f2158ece"/>
    <ds:schemaRef ds:uri="http://purl.org/dc/elements/1.1/"/>
    <ds:schemaRef ds:uri="http://www.w3.org/XML/1998/namespace"/>
    <ds:schemaRef ds:uri="http://schemas.microsoft.com/office/infopath/2007/PartnerControls"/>
    <ds:schemaRef ds:uri="1ae659e6-6caa-423e-b45e-6e0e75551422"/>
    <ds:schemaRef ds:uri="http://purl.org/dc/terms/"/>
    <ds:schemaRef ds:uri="http://schemas.microsoft.com/office/2006/documentManagement/types"/>
    <ds:schemaRef ds:uri="http://schemas.openxmlformats.org/package/2006/metadata/core-properties"/>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29E675F4-C097-48DE-8DE6-7CDCDDE126E4}">
  <ds:schemaRefs>
    <ds:schemaRef ds:uri="http://schemas.microsoft.com/sharepoint/v3/contenttype/forms"/>
  </ds:schemaRefs>
</ds:datastoreItem>
</file>

<file path=customXml/itemProps3.xml><?xml version="1.0" encoding="utf-8"?>
<ds:datastoreItem xmlns:ds="http://schemas.openxmlformats.org/officeDocument/2006/customXml" ds:itemID="{C0749E7D-E8B1-41CD-A3F0-65354B955A9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e659e6-6caa-423e-b45e-6e0e75551422"/>
    <ds:schemaRef ds:uri="d00c5bf2-b36b-4152-bf85-3189f2158ec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37f4b8a2-ad4f-41b5-9a91-284d2cc38f56}" enabled="1" method="Standard" siteId="{70de1992-07c6-480f-a318-a1afcba03983}" removed="0"/>
</clbl:labelList>
</file>

<file path=docProps/app.xml><?xml version="1.0" encoding="utf-8"?>
<Properties xmlns="http://schemas.openxmlformats.org/officeDocument/2006/extended-properties" xmlns:vt="http://schemas.openxmlformats.org/officeDocument/2006/docPropsVTypes">
  <Template>Office 2013 - 2022 Theme</Template>
  <TotalTime>314</TotalTime>
  <Words>827</Words>
  <Application>Microsoft Office PowerPoint</Application>
  <PresentationFormat>Custom</PresentationFormat>
  <Paragraphs>35</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Calibri Light</vt:lpstr>
      <vt:lpstr>Office 2013 - 2022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Chavez, Adam</dc:creator>
  <cp:lastModifiedBy>Chavez, Adam</cp:lastModifiedBy>
  <cp:revision>12</cp:revision>
  <cp:lastPrinted>2025-04-23T22:44:43Z</cp:lastPrinted>
  <dcterms:created xsi:type="dcterms:W3CDTF">2022-10-20T17:08:55Z</dcterms:created>
  <dcterms:modified xsi:type="dcterms:W3CDTF">2026-08-27T21:06:38Z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0x01010045C000D45010C7498D05733EBEC534BB</vt:lpwstr>
  </property>
</Properties>
</file>