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</p:sldIdLst>
  <p:sldSz cx="21945600" cy="3291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439"/>
    <a:srgbClr val="006F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8BA1A-6B88-4C10-AAB9-A8E082FC9F81}" v="31" dt="2026-08-27T21:06:32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3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vez, Adam" userId="4b96c546-e0ef-48cf-ad45-4211b362b303" providerId="ADAL" clId="{65F7D7E1-1086-475A-B866-87D93FA6EB20}"/>
    <pc:docChg chg="modSld">
      <pc:chgData name="Chavez, Adam" userId="4b96c546-e0ef-48cf-ad45-4211b362b303" providerId="ADAL" clId="{65F7D7E1-1086-475A-B866-87D93FA6EB20}" dt="2026-08-27T21:06:32.765" v="30"/>
      <pc:docMkLst>
        <pc:docMk/>
      </pc:docMkLst>
      <pc:sldChg chg="addSp modSp">
        <pc:chgData name="Chavez, Adam" userId="4b96c546-e0ef-48cf-ad45-4211b362b303" providerId="ADAL" clId="{65F7D7E1-1086-475A-B866-87D93FA6EB20}" dt="2026-08-27T21:06:32.765" v="30"/>
        <pc:sldMkLst>
          <pc:docMk/>
          <pc:sldMk cId="1040036484" sldId="256"/>
        </pc:sldMkLst>
        <pc:spChg chg="mod">
          <ac:chgData name="Chavez, Adam" userId="4b96c546-e0ef-48cf-ad45-4211b362b303" providerId="ADAL" clId="{65F7D7E1-1086-475A-B866-87D93FA6EB20}" dt="2026-08-27T21:04:34.177" v="17"/>
          <ac:spMkLst>
            <pc:docMk/>
            <pc:sldMk cId="1040036484" sldId="256"/>
            <ac:spMk id="15" creationId="{D46CAF31-D57E-C647-7FD1-0D8FF812F8E9}"/>
          </ac:spMkLst>
        </pc:spChg>
        <pc:spChg chg="mod">
          <ac:chgData name="Chavez, Adam" userId="4b96c546-e0ef-48cf-ad45-4211b362b303" providerId="ADAL" clId="{65F7D7E1-1086-475A-B866-87D93FA6EB20}" dt="2026-08-27T21:05:25.695" v="26"/>
          <ac:spMkLst>
            <pc:docMk/>
            <pc:sldMk cId="1040036484" sldId="256"/>
            <ac:spMk id="18" creationId="{49650CBE-7A43-B07A-2977-FBEF02B5F718}"/>
          </ac:spMkLst>
        </pc:spChg>
        <pc:spChg chg="mod">
          <ac:chgData name="Chavez, Adam" userId="4b96c546-e0ef-48cf-ad45-4211b362b303" providerId="ADAL" clId="{65F7D7E1-1086-475A-B866-87D93FA6EB20}" dt="2026-08-27T21:06:32.765" v="30"/>
          <ac:spMkLst>
            <pc:docMk/>
            <pc:sldMk cId="1040036484" sldId="256"/>
            <ac:spMk id="24" creationId="{1ED2C008-5246-117D-1B16-79F6DB43B572}"/>
          </ac:spMkLst>
        </pc:spChg>
        <pc:picChg chg="add mod">
          <ac:chgData name="Chavez, Adam" userId="4b96c546-e0ef-48cf-ad45-4211b362b303" providerId="ADAL" clId="{65F7D7E1-1086-475A-B866-87D93FA6EB20}" dt="2026-08-27T21:01:43.233" v="0"/>
          <ac:picMkLst>
            <pc:docMk/>
            <pc:sldMk cId="1040036484" sldId="256"/>
            <ac:picMk id="6" creationId="{AEE4096F-C37E-5785-B26E-C6146690E18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03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4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/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69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7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000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75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1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7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95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989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87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F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3DF3914-160B-4294-A01A-8CB9C6320C14}"/>
              </a:ext>
            </a:extLst>
          </p:cNvPr>
          <p:cNvSpPr/>
          <p:nvPr/>
        </p:nvSpPr>
        <p:spPr>
          <a:xfrm>
            <a:off x="0" y="0"/>
            <a:ext cx="21945600" cy="2992582"/>
          </a:xfrm>
          <a:prstGeom prst="rect">
            <a:avLst/>
          </a:prstGeom>
          <a:gradFill flip="none" rotWithShape="1">
            <a:gsLst>
              <a:gs pos="0">
                <a:srgbClr val="007C3F">
                  <a:shade val="30000"/>
                  <a:satMod val="115000"/>
                </a:srgbClr>
              </a:gs>
              <a:gs pos="50000">
                <a:srgbClr val="007C3F">
                  <a:shade val="67500"/>
                  <a:satMod val="115000"/>
                </a:srgbClr>
              </a:gs>
              <a:gs pos="100000">
                <a:srgbClr val="007C3F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52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A4D62C-A0AF-1588-FBCB-9DDB258E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1" t="24840" r="21220" b="28651"/>
          <a:stretch>
            <a:fillRect/>
          </a:stretch>
        </p:blipFill>
        <p:spPr>
          <a:xfrm>
            <a:off x="17649372" y="139204"/>
            <a:ext cx="3643086" cy="25046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3AD17-9174-F810-F5B9-7772E0A9FDBB}"/>
              </a:ext>
            </a:extLst>
          </p:cNvPr>
          <p:cNvSpPr txBox="1"/>
          <p:nvPr/>
        </p:nvSpPr>
        <p:spPr>
          <a:xfrm>
            <a:off x="476250" y="397334"/>
            <a:ext cx="16824960" cy="2051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0">
              <a:lnSpc>
                <a:spcPct val="100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Robustness or Weighting? Re-Evaluating Federated Aggregation on Heterogeneous Health Data</a:t>
            </a:r>
            <a:endParaRPr lang="en-US" sz="60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75"/>
              </a:spcBef>
              <a:buNone/>
            </a:pPr>
            <a:r>
              <a:rPr lang="en-US" sz="30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Kunal Chevuri and Dr. Mohammed Aledhari</a:t>
            </a:r>
            <a:endParaRPr lang="en-US" sz="32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260"/>
              </a:spcBef>
              <a:buNone/>
            </a:pPr>
            <a:r>
              <a:rPr lang="en-US" sz="30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University of North Texas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33088"/>
            <a:ext cx="6638544" cy="4943856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Hospitals and health agencies hold records that could sharpen how we predict disease, but privacy law stops them pooling the data.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Federated learning trains one shared model without moving any patient record out of the institution holding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rule that merges each site's work is normally chosen for its robustness to noisy or unusual sites.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Robust rules are always scored against FedAvg, which weights each site by how much data it holds, so the biggest site gets the loudest vote.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Robust rules discard that weighting entirely, so two things change at once and nobody had separated them.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We ask: when a robust rule wins, is it the robust statistic winning, or just the end of the loudest vote?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9259823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Background: how federated learning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0082783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site trains on its own data and sends only the model update, which the server merges into one shared model.</a:t>
            </a:r>
          </a:p>
        </p:txBody>
      </p:sp>
      <p:pic>
        <p:nvPicPr>
          <p:cNvPr id="21" name="Picture 20" descr="posterD_feder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067941"/>
            <a:ext cx="6638544" cy="26060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1385686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4679821"/>
            <a:ext cx="6638544" cy="2517648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CDC BRFSS 2023: 382,709 U.S. adults, predicting self-reported depression, which 20.7% of respondents report.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UCI Breast Cancer Wisconsin runs alongside as a clean clinical benchmark.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dataset is dealt to 20 simulated sites by Dirichlet partitioning, whose dial alpha sets how lopsided the split is.</a:t>
            </a:r>
          </a:p>
        </p:txBody>
      </p:sp>
      <p:pic>
        <p:nvPicPr>
          <p:cNvPr id="24" name="Picture 23" descr="posterF_part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7380349"/>
            <a:ext cx="6638544" cy="397763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48640" y="21540869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At alpha = 0.1 one site holds 106,481 training rows, 34.8% of the total, while two sites receive nothing at all.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252602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Code &amp;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3348986"/>
            <a:ext cx="4992624" cy="1806810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All code, the merged results and a script that re-checks every number on this poster are openly available.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github.com/kunalchevuri/federated-learning-health-robustness</a:t>
            </a:r>
          </a:p>
        </p:txBody>
      </p:sp>
      <p:pic>
        <p:nvPicPr>
          <p:cNvPr id="28" name="Picture 27" descr="posterE_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4144" y="23367274"/>
            <a:ext cx="1417320" cy="141732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48640" y="25338677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6161637"/>
            <a:ext cx="6638544" cy="355266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[1]  McMahan et al. Communication-efficient learning of deep networks from decentralized data. AISTATS,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[2]  Blanchard et al. Machine learning with adversaries: Byzantine tolerant gradient descent. NIPS,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[3]  Yin et al. Byzantine-robust distributed learning: towards optimal statistical rates. ICML, 2018.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[4]  Karimireddy et al. Byzantine-robust learning on heterogeneous datasets via bucketing. ICLR, 2022.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[5]  Hsu et al. Measuring the effects of non-identical data distribution for federated visual classification. arXiv:1909.06335, 2019.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[6]  CDC. BRFSS 2023 survey data and documentation.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44383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4133088"/>
            <a:ext cx="6638544" cy="6365530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Seven merge rules run head to head: FedAvg, FedProx, CS-Agg, Krum, trimmed mean, coordinate-wise median, and an unweighted mean.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unweighted mean is our control: it uses no robust statistic and differs from FedAvg only in ignoring how much data each site holds.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Anything the control gains over FedAvg is therefore weighting alone, which is what isolates the effect.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Labels are flipped at 20% of sites, across 0 to 30% of their records.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 BRFSS we flip them only the way real people err, reporting no depression when they have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624 conditions cover every combination of rule, dataset, split, noise level and random seed.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runs 50 rounds, scored by AUC-ROC on a clean held-out test set the sites never see.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Differences are tested with Wilcoxon signed-rank, Holm-corrected within each of three comparison families.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44383" y="1068149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44383" y="1150445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Most of the gain over FedAvg is weighting, not robustness</a:t>
            </a:r>
          </a:p>
        </p:txBody>
      </p:sp>
      <p:pic>
        <p:nvPicPr>
          <p:cNvPr id="35" name="Picture 34" descr="posterA_decomposi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383" y="12181114"/>
            <a:ext cx="6638544" cy="67665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644383" y="19130554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control alone recovers 79 to 98% of what the three strongest robust rules gain over FedAvg.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Only coordinate-wise median clearly clears it, at +0.0163 AUC (Holm p &lt; 0.0001).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Trimmed mean's +0.0026 is significant but negligible, and CS-Agg cannot be told apart from the control (p = 0.22).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44383" y="21537385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Krum is unreliable, not merely weaker</a:t>
            </a:r>
          </a:p>
        </p:txBody>
      </p:sp>
      <p:pic>
        <p:nvPicPr>
          <p:cNvPr id="38" name="Picture 37" descr="posterC_runlev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4383" y="22214041"/>
            <a:ext cx="6638544" cy="56692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644383" y="28066201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Krum lands below the control and collapses to 0.328 AUC on one run, worse than a coin flip.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740128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Results, continued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740128" y="413308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Lopsided data hurts far more than broken labels</a:t>
            </a:r>
          </a:p>
        </p:txBody>
      </p:sp>
      <p:pic>
        <p:nvPicPr>
          <p:cNvPr id="42" name="Picture 41" descr="posterG_stresso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0128" y="4809744"/>
            <a:ext cx="6638544" cy="402336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740128" y="9015984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Moving from alpha = 1.0 to 0.1 costs FedAvg 0.2348 AUC, while 0% to 30% label noise costs it 0.0016.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That 149x gap narrows to about 14x when sites track twelve health variables instead of four, but it never closes.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740128" y="1071197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 clean benchmark would have hidden all of this</a:t>
            </a:r>
          </a:p>
        </p:txBody>
      </p:sp>
      <p:pic>
        <p:nvPicPr>
          <p:cNvPr id="45" name="Picture 44" descr="posterB_both_datase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740128" y="11388634"/>
            <a:ext cx="6638544" cy="65836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740128" y="18155194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 Breast Cancer every rule but Krum reaches 0.997 AUC or better, where no difference between them is visible.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Messy, self-reported population health data is where these rules actually separate.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740128" y="1985118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Future Directions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740128" y="20674148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Test adaptive Byzantine attackers, not only the label noise studied here.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Replace the simulated Dirichlet split with data partitioned across real institutions.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Check whether the weighting effect persists for deeper models and larger numbers of sites.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740128" y="23080979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740128" y="23903940"/>
            <a:ext cx="6638544" cy="352218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Most of the advantage robust aggregators hold over FedAvg comes from how they weight sites, not from the robust statistic they are named for.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Any robustness evaluation run on size-skewed data should include an unweighted-mean control.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control costs one line of code, and without it a reported gain cannot be credited to robustness.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 rule's reputation is not evidence: Krum is widely cited and failed here, while coordinate-wise median is simple and held.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740128" y="2760900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Acknowledgements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740128" y="28431961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Survey data collected and published by the Centers for Disease Control and Prevention (BRFSS 2023).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Carried out in the Computational Healthcare and Biotechnology Lab, University of North Texas.</a:t>
            </a:r>
          </a:p>
        </p:txBody>
      </p:sp>
    </p:spTree>
    <p:extLst>
      <p:ext uri="{BB962C8B-B14F-4D97-AF65-F5344CB8AC3E}">
        <p14:creationId xmlns:p14="http://schemas.microsoft.com/office/powerpoint/2010/main" val="1040036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000D45010C7498D05733EBEC534BB" ma:contentTypeVersion="14" ma:contentTypeDescription="Create a new document." ma:contentTypeScope="" ma:versionID="666928a412aa3dea9808672f3c058c78">
  <xsd:schema xmlns:xsd="http://www.w3.org/2001/XMLSchema" xmlns:xs="http://www.w3.org/2001/XMLSchema" xmlns:p="http://schemas.microsoft.com/office/2006/metadata/properties" xmlns:ns3="1ae659e6-6caa-423e-b45e-6e0e75551422" xmlns:ns4="d00c5bf2-b36b-4152-bf85-3189f2158ece" targetNamespace="http://schemas.microsoft.com/office/2006/metadata/properties" ma:root="true" ma:fieldsID="aef7f1b3973d20bec3fae934efbd0a2b" ns3:_="" ns4:_="">
    <xsd:import namespace="1ae659e6-6caa-423e-b45e-6e0e75551422"/>
    <xsd:import namespace="d00c5bf2-b36b-4152-bf85-3189f2158ec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e659e6-6caa-423e-b45e-6e0e755514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0c5bf2-b36b-4152-bf85-3189f2158ec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D5FCE8-B829-45B1-A51F-D8BECFA6CED7}">
  <ds:schemaRefs>
    <ds:schemaRef ds:uri="d00c5bf2-b36b-4152-bf85-3189f2158ece"/>
    <ds:schemaRef ds:uri="http://purl.org/dc/elements/1.1/"/>
    <ds:schemaRef ds:uri="http://www.w3.org/XML/1998/namespace"/>
    <ds:schemaRef ds:uri="http://schemas.microsoft.com/office/infopath/2007/PartnerControls"/>
    <ds:schemaRef ds:uri="1ae659e6-6caa-423e-b45e-6e0e75551422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9E675F4-C097-48DE-8DE6-7CDCDDE126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749E7D-E8B1-41CD-A3F0-65354B955A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e659e6-6caa-423e-b45e-6e0e75551422"/>
    <ds:schemaRef ds:uri="d00c5bf2-b36b-4152-bf85-3189f2158e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314</TotalTime>
  <Words>827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Chavez, Adam</dc:creator>
  <cp:lastModifiedBy>Chavez, Adam</cp:lastModifiedBy>
  <cp:revision>12</cp:revision>
  <cp:lastPrinted>2025-04-23T22:44:43Z</cp:lastPrinted>
  <dcterms:created xsi:type="dcterms:W3CDTF">2022-10-20T17:08:55Z</dcterms:created>
  <dcterms:modified xsi:type="dcterms:W3CDTF">2026-08-27T21:06:38Z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0x01010045C000D45010C7498D05733EBEC534BB</vt:lpwstr>
  </property>
</Properties>
</file>