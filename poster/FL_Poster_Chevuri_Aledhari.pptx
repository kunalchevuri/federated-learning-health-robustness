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sldIdLst>
    <p:sldId id="256" r:id="rId5"/>
  </p:sldIdLst>
  <p:sldSz cx="21945600" cy="3291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439"/>
    <a:srgbClr val="006F33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D8BA1A-6B88-4C10-AAB9-A8E082FC9F81}" v="31" dt="2026-08-27T21:06:32.76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50" d="100"/>
          <a:sy n="50" d="100"/>
        </p:scale>
        <p:origin x="132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vez, Adam" userId="4b96c546-e0ef-48cf-ad45-4211b362b303" providerId="ADAL" clId="{65F7D7E1-1086-475A-B866-87D93FA6EB20}"/>
    <pc:docChg chg="modSld">
      <pc:chgData name="Chavez, Adam" userId="4b96c546-e0ef-48cf-ad45-4211b362b303" providerId="ADAL" clId="{65F7D7E1-1086-475A-B866-87D93FA6EB20}" dt="2026-08-27T21:06:32.765" v="30"/>
      <pc:docMkLst>
        <pc:docMk/>
      </pc:docMkLst>
      <pc:sldChg chg="addSp modSp">
        <pc:chgData name="Chavez, Adam" userId="4b96c546-e0ef-48cf-ad45-4211b362b303" providerId="ADAL" clId="{65F7D7E1-1086-475A-B866-87D93FA6EB20}" dt="2026-08-27T21:06:32.765" v="30"/>
        <pc:sldMkLst>
          <pc:docMk/>
          <pc:sldMk cId="1040036484" sldId="256"/>
        </pc:sldMkLst>
        <pc:spChg chg="mod">
          <ac:chgData name="Chavez, Adam" userId="4b96c546-e0ef-48cf-ad45-4211b362b303" providerId="ADAL" clId="{65F7D7E1-1086-475A-B866-87D93FA6EB20}" dt="2026-08-27T21:04:34.177" v="17"/>
          <ac:spMkLst>
            <pc:docMk/>
            <pc:sldMk cId="1040036484" sldId="256"/>
            <ac:spMk id="15" creationId="{D46CAF31-D57E-C647-7FD1-0D8FF812F8E9}"/>
          </ac:spMkLst>
        </pc:spChg>
        <pc:spChg chg="mod">
          <ac:chgData name="Chavez, Adam" userId="4b96c546-e0ef-48cf-ad45-4211b362b303" providerId="ADAL" clId="{65F7D7E1-1086-475A-B866-87D93FA6EB20}" dt="2026-08-27T21:05:25.695" v="26"/>
          <ac:spMkLst>
            <pc:docMk/>
            <pc:sldMk cId="1040036484" sldId="256"/>
            <ac:spMk id="18" creationId="{49650CBE-7A43-B07A-2977-FBEF02B5F718}"/>
          </ac:spMkLst>
        </pc:spChg>
        <pc:spChg chg="mod">
          <ac:chgData name="Chavez, Adam" userId="4b96c546-e0ef-48cf-ad45-4211b362b303" providerId="ADAL" clId="{65F7D7E1-1086-475A-B866-87D93FA6EB20}" dt="2026-08-27T21:06:32.765" v="30"/>
          <ac:spMkLst>
            <pc:docMk/>
            <pc:sldMk cId="1040036484" sldId="256"/>
            <ac:spMk id="24" creationId="{1ED2C008-5246-117D-1B16-79F6DB43B572}"/>
          </ac:spMkLst>
        </pc:spChg>
        <pc:picChg chg="add mod">
          <ac:chgData name="Chavez, Adam" userId="4b96c546-e0ef-48cf-ad45-4211b362b303" providerId="ADAL" clId="{65F7D7E1-1086-475A-B866-87D93FA6EB20}" dt="2026-08-27T21:01:43.233" v="0"/>
          <ac:picMkLst>
            <pc:docMk/>
            <pc:sldMk cId="1040036484" sldId="256"/>
            <ac:picMk id="6" creationId="{AEE4096F-C37E-5785-B26E-C6146690E189}"/>
          </ac:picMkLst>
        </pc:pic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45920" y="5387342"/>
            <a:ext cx="18653760" cy="11460480"/>
          </a:xfrm>
        </p:spPr>
        <p:txBody>
          <a:bodyPr anchor="b"/>
          <a:lstStyle>
            <a:lvl1pPr algn="ctr"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200" y="17289782"/>
            <a:ext cx="16459200" cy="7947658"/>
          </a:xfrm>
        </p:spPr>
        <p:txBody>
          <a:bodyPr/>
          <a:lstStyle>
            <a:lvl1pPr marL="0" indent="0" algn="ctr">
              <a:buNone/>
              <a:defRPr sz="5760"/>
            </a:lvl1pPr>
            <a:lvl2pPr marL="1097280" indent="0" algn="ctr">
              <a:buNone/>
              <a:defRPr sz="4800"/>
            </a:lvl2pPr>
            <a:lvl3pPr marL="2194560" indent="0" algn="ctr">
              <a:buNone/>
              <a:defRPr sz="4320"/>
            </a:lvl3pPr>
            <a:lvl4pPr marL="3291840" indent="0" algn="ctr">
              <a:buNone/>
              <a:defRPr sz="3840"/>
            </a:lvl4pPr>
            <a:lvl5pPr marL="4389120" indent="0" algn="ctr">
              <a:buNone/>
              <a:defRPr sz="3840"/>
            </a:lvl5pPr>
            <a:lvl6pPr marL="5486400" indent="0" algn="ctr">
              <a:buNone/>
              <a:defRPr sz="3840"/>
            </a:lvl6pPr>
            <a:lvl7pPr marL="6583680" indent="0" algn="ctr">
              <a:buNone/>
              <a:defRPr sz="3840"/>
            </a:lvl7pPr>
            <a:lvl8pPr marL="7680960" indent="0" algn="ctr">
              <a:buNone/>
              <a:defRPr sz="3840"/>
            </a:lvl8pPr>
            <a:lvl9pPr marL="8778240" indent="0" algn="ctr">
              <a:buNone/>
              <a:defRPr sz="38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033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54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7331" y="8206749"/>
            <a:ext cx="18928080" cy="13693138"/>
          </a:xfrm>
        </p:spPr>
        <p:txBody>
          <a:bodyPr anchor="b"/>
          <a:lstStyle>
            <a:lvl1pPr>
              <a:defRPr sz="1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7331" y="22029429"/>
            <a:ext cx="18928080" cy="7200898"/>
          </a:xfrm>
        </p:spPr>
        <p:txBody>
          <a:bodyPr/>
          <a:lstStyle>
            <a:lvl1pPr marL="0" indent="0">
              <a:buNone/>
              <a:defRPr sz="5760">
                <a:solidFill>
                  <a:schemeClr val="tx1"/>
                </a:solidFill>
              </a:defRPr>
            </a:lvl1pPr>
            <a:lvl2pPr marL="109728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2pPr>
            <a:lvl3pPr marL="2194560" indent="0">
              <a:buNone/>
              <a:defRPr sz="4320">
                <a:solidFill>
                  <a:schemeClr val="tx1">
                    <a:tint val="75000"/>
                  </a:schemeClr>
                </a:solidFill>
              </a:defRPr>
            </a:lvl3pPr>
            <a:lvl4pPr marL="329184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4pPr>
            <a:lvl5pPr marL="438912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5pPr>
            <a:lvl6pPr marL="548640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6pPr>
            <a:lvl7pPr marL="658368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7pPr>
            <a:lvl8pPr marL="768096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8pPr>
            <a:lvl9pPr marL="8778240" indent="0">
              <a:buNone/>
              <a:defRPr sz="38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699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087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109960" y="8763000"/>
            <a:ext cx="932688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74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8" y="1752607"/>
            <a:ext cx="1892808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1621" y="8069582"/>
            <a:ext cx="9284016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1621" y="12024360"/>
            <a:ext cx="9284016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109961" y="8069582"/>
            <a:ext cx="9329738" cy="3954778"/>
          </a:xfrm>
        </p:spPr>
        <p:txBody>
          <a:bodyPr anchor="b"/>
          <a:lstStyle>
            <a:lvl1pPr marL="0" indent="0">
              <a:buNone/>
              <a:defRPr sz="5760" b="1"/>
            </a:lvl1pPr>
            <a:lvl2pPr marL="1097280" indent="0">
              <a:buNone/>
              <a:defRPr sz="4800" b="1"/>
            </a:lvl2pPr>
            <a:lvl3pPr marL="2194560" indent="0">
              <a:buNone/>
              <a:defRPr sz="4320" b="1"/>
            </a:lvl3pPr>
            <a:lvl4pPr marL="3291840" indent="0">
              <a:buNone/>
              <a:defRPr sz="3840" b="1"/>
            </a:lvl4pPr>
            <a:lvl5pPr marL="4389120" indent="0">
              <a:buNone/>
              <a:defRPr sz="3840" b="1"/>
            </a:lvl5pPr>
            <a:lvl6pPr marL="5486400" indent="0">
              <a:buNone/>
              <a:defRPr sz="3840" b="1"/>
            </a:lvl6pPr>
            <a:lvl7pPr marL="6583680" indent="0">
              <a:buNone/>
              <a:defRPr sz="3840" b="1"/>
            </a:lvl7pPr>
            <a:lvl8pPr marL="7680960" indent="0">
              <a:buNone/>
              <a:defRPr sz="3840" b="1"/>
            </a:lvl8pPr>
            <a:lvl9pPr marL="8778240" indent="0">
              <a:buNone/>
              <a:defRPr sz="38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109961" y="12024360"/>
            <a:ext cx="9329738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000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7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375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29738" y="4739647"/>
            <a:ext cx="11109960" cy="23393400"/>
          </a:xfrm>
        </p:spPr>
        <p:txBody>
          <a:bodyPr/>
          <a:lstStyle>
            <a:lvl1pPr>
              <a:defRPr sz="7680"/>
            </a:lvl1pPr>
            <a:lvl2pPr>
              <a:defRPr sz="6720"/>
            </a:lvl2pPr>
            <a:lvl3pPr>
              <a:defRPr sz="5760"/>
            </a:lvl3pPr>
            <a:lvl4pPr>
              <a:defRPr sz="4800"/>
            </a:lvl4pPr>
            <a:lvl5pPr>
              <a:defRPr sz="4800"/>
            </a:lvl5pPr>
            <a:lvl6pPr>
              <a:defRPr sz="4800"/>
            </a:lvl6pPr>
            <a:lvl7pPr>
              <a:defRPr sz="4800"/>
            </a:lvl7pPr>
            <a:lvl8pPr>
              <a:defRPr sz="4800"/>
            </a:lvl8pPr>
            <a:lvl9pPr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6166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1619" y="2194560"/>
            <a:ext cx="7078027" cy="7680960"/>
          </a:xfrm>
        </p:spPr>
        <p:txBody>
          <a:bodyPr anchor="b"/>
          <a:lstStyle>
            <a:lvl1pPr>
              <a:defRPr sz="76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329738" y="4739647"/>
            <a:ext cx="11109960" cy="23393400"/>
          </a:xfrm>
        </p:spPr>
        <p:txBody>
          <a:bodyPr anchor="t"/>
          <a:lstStyle>
            <a:lvl1pPr marL="0" indent="0">
              <a:buNone/>
              <a:defRPr sz="7680"/>
            </a:lvl1pPr>
            <a:lvl2pPr marL="1097280" indent="0">
              <a:buNone/>
              <a:defRPr sz="6720"/>
            </a:lvl2pPr>
            <a:lvl3pPr marL="2194560" indent="0">
              <a:buNone/>
              <a:defRPr sz="5760"/>
            </a:lvl3pPr>
            <a:lvl4pPr marL="3291840" indent="0">
              <a:buNone/>
              <a:defRPr sz="4800"/>
            </a:lvl4pPr>
            <a:lvl5pPr marL="4389120" indent="0">
              <a:buNone/>
              <a:defRPr sz="4800"/>
            </a:lvl5pPr>
            <a:lvl6pPr marL="5486400" indent="0">
              <a:buNone/>
              <a:defRPr sz="4800"/>
            </a:lvl6pPr>
            <a:lvl7pPr marL="6583680" indent="0">
              <a:buNone/>
              <a:defRPr sz="4800"/>
            </a:lvl7pPr>
            <a:lvl8pPr marL="7680960" indent="0">
              <a:buNone/>
              <a:defRPr sz="4800"/>
            </a:lvl8pPr>
            <a:lvl9pPr marL="8778240" indent="0">
              <a:buNone/>
              <a:defRPr sz="4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1619" y="9875520"/>
            <a:ext cx="7078027" cy="18295622"/>
          </a:xfrm>
        </p:spPr>
        <p:txBody>
          <a:bodyPr/>
          <a:lstStyle>
            <a:lvl1pPr marL="0" indent="0">
              <a:buNone/>
              <a:defRPr sz="3840"/>
            </a:lvl1pPr>
            <a:lvl2pPr marL="1097280" indent="0">
              <a:buNone/>
              <a:defRPr sz="3360"/>
            </a:lvl2pPr>
            <a:lvl3pPr marL="2194560" indent="0">
              <a:buNone/>
              <a:defRPr sz="2880"/>
            </a:lvl3pPr>
            <a:lvl4pPr marL="3291840" indent="0">
              <a:buNone/>
              <a:defRPr sz="2400"/>
            </a:lvl4pPr>
            <a:lvl5pPr marL="4389120" indent="0">
              <a:buNone/>
              <a:defRPr sz="2400"/>
            </a:lvl5pPr>
            <a:lvl6pPr marL="5486400" indent="0">
              <a:buNone/>
              <a:defRPr sz="2400"/>
            </a:lvl6pPr>
            <a:lvl7pPr marL="6583680" indent="0">
              <a:buNone/>
              <a:defRPr sz="2400"/>
            </a:lvl7pPr>
            <a:lvl8pPr marL="7680960" indent="0">
              <a:buNone/>
              <a:defRPr sz="2400"/>
            </a:lvl8pPr>
            <a:lvl9pPr marL="8778240" indent="0">
              <a:buNone/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607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953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704821" y="1752600"/>
            <a:ext cx="473202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08761" y="1752600"/>
            <a:ext cx="1392174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89890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08760" y="1752607"/>
            <a:ext cx="189280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08760" y="8763000"/>
            <a:ext cx="189280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0876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4C8A3B-F308-473F-A1C4-090B4F222883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69480" y="30510487"/>
            <a:ext cx="74066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499080" y="30510487"/>
            <a:ext cx="49377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91D2D75-94A3-47B5-BE18-6EDAF605EB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2387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194560" rtl="0" eaLnBrk="1" latinLnBrk="0" hangingPunct="1">
        <a:lnSpc>
          <a:spcPct val="90000"/>
        </a:lnSpc>
        <a:spcBef>
          <a:spcPct val="0"/>
        </a:spcBef>
        <a:buNone/>
        <a:defRPr sz="105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48640" indent="-548640" algn="l" defTabSz="219456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672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576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3pPr>
      <a:lvl4pPr marL="38404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93776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603504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713232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822960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9326880" indent="-548640" algn="l" defTabSz="2194560" rtl="0" eaLnBrk="1" latinLnBrk="0" hangingPunct="1">
        <a:lnSpc>
          <a:spcPct val="90000"/>
        </a:lnSpc>
        <a:spcBef>
          <a:spcPts val="1200"/>
        </a:spcBef>
        <a:buFont typeface="Arial" panose="020B0604020202020204" pitchFamily="34" charset="0"/>
        <a:buChar char="•"/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1pPr>
      <a:lvl2pPr marL="10972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2pPr>
      <a:lvl3pPr marL="21945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3pPr>
      <a:lvl4pPr marL="32918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4pPr>
      <a:lvl5pPr marL="438912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5pPr>
      <a:lvl6pPr marL="548640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6pPr>
      <a:lvl7pPr marL="658368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7pPr>
      <a:lvl8pPr marL="768096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8pPr>
      <a:lvl9pPr marL="8778240" algn="l" defTabSz="2194560" rtl="0" eaLnBrk="1" latinLnBrk="0" hangingPunct="1">
        <a:defRPr sz="43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emf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F0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3DF3914-160B-4294-A01A-8CB9C6320C14}"/>
              </a:ext>
            </a:extLst>
          </p:cNvPr>
          <p:cNvSpPr/>
          <p:nvPr/>
        </p:nvSpPr>
        <p:spPr>
          <a:xfrm>
            <a:off x="0" y="0"/>
            <a:ext cx="21945600" cy="2992582"/>
          </a:xfrm>
          <a:prstGeom prst="rect">
            <a:avLst/>
          </a:prstGeom>
          <a:gradFill flip="none" rotWithShape="1">
            <a:gsLst>
              <a:gs pos="0">
                <a:srgbClr val="007C3F">
                  <a:shade val="30000"/>
                  <a:satMod val="115000"/>
                </a:srgbClr>
              </a:gs>
              <a:gs pos="50000">
                <a:srgbClr val="007C3F">
                  <a:shade val="67500"/>
                  <a:satMod val="115000"/>
                </a:srgbClr>
              </a:gs>
              <a:gs pos="100000">
                <a:srgbClr val="007C3F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552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A4D62C-A0AF-1588-FBCB-9DDB258E4D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31" t="24840" r="21220" b="28651"/>
          <a:stretch>
            <a:fillRect/>
          </a:stretch>
        </p:blipFill>
        <p:spPr>
          <a:xfrm>
            <a:off x="17649372" y="139204"/>
            <a:ext cx="3643086" cy="25046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63AD17-9174-F810-F5B9-7772E0A9FDBB}"/>
              </a:ext>
            </a:extLst>
          </p:cNvPr>
          <p:cNvSpPr txBox="1"/>
          <p:nvPr/>
        </p:nvSpPr>
        <p:spPr>
          <a:xfrm>
            <a:off x="476250" y="397334"/>
            <a:ext cx="16824960" cy="20518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marR="0">
              <a:lnSpc>
                <a:spcPct val="100000"/>
              </a:lnSpc>
              <a:buNone/>
            </a:pPr>
            <a:r>
              <a:rPr lang="en-US" sz="44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Robustness or Weighting? Re-Evaluating Federated Aggregation on Heterogeneous Health Data</a:t>
            </a:r>
            <a:endParaRPr lang="en-US" sz="6000" dirty="0">
              <a:solidFill>
                <a:schemeClr val="bg1"/>
              </a:solidFill>
              <a:effectLst/>
              <a:latin typeface="+mn-lt"/>
              <a:ea typeface="Arial" panose="020B0604020202020204" pitchFamily="34" charset="0"/>
            </a:endParaRPr>
          </a:p>
          <a:p>
            <a:pPr marL="12700" marR="0">
              <a:spcBef>
                <a:spcPts val="75"/>
              </a:spcBef>
              <a:buNone/>
            </a:pPr>
            <a:r>
              <a:rPr lang="en-US" sz="30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Kunal Chevuri and Dr. Mohammed Aledhari</a:t>
            </a:r>
            <a:endParaRPr lang="en-US" sz="3200" dirty="0">
              <a:solidFill>
                <a:schemeClr val="bg1"/>
              </a:solidFill>
              <a:effectLst/>
              <a:latin typeface="+mn-lt"/>
              <a:ea typeface="Arial" panose="020B0604020202020204" pitchFamily="34" charset="0"/>
            </a:endParaRPr>
          </a:p>
          <a:p>
            <a:pPr marL="12700" marR="0">
              <a:spcBef>
                <a:spcPts val="260"/>
              </a:spcBef>
              <a:buNone/>
            </a:pPr>
            <a:r>
              <a:rPr lang="en-US" sz="3000" b="1" dirty="0">
                <a:solidFill>
                  <a:schemeClr val="bg1"/>
                </a:solidFill>
                <a:effectLst/>
                <a:latin typeface="+mn-lt"/>
                <a:ea typeface="Arial" panose="020B0604020202020204" pitchFamily="34" charset="0"/>
              </a:rPr>
              <a:t>University of North Texas</a:t>
            </a:r>
            <a:endParaRPr lang="en-US" dirty="0">
              <a:solidFill>
                <a:schemeClr val="bg1"/>
              </a:solidFill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DF3914-160B-4294-A01A-8CB9C6320C14}"/>
              </a:ext>
            </a:extLst>
          </p:cNvPr>
          <p:cNvSpPr/>
          <p:nvPr/>
        </p:nvSpPr>
        <p:spPr>
          <a:xfrm>
            <a:off x="0" y="31455360"/>
            <a:ext cx="21945600" cy="1463040"/>
          </a:xfrm>
          <a:prstGeom prst="rect">
            <a:avLst/>
          </a:prstGeom>
          <a:gradFill flip="none" rotWithShape="1">
            <a:gsLst>
              <a:gs pos="0">
                <a:srgbClr val="007C3F">
                  <a:shade val="30000"/>
                  <a:satMod val="115000"/>
                </a:srgbClr>
              </a:gs>
              <a:gs pos="50000">
                <a:srgbClr val="007C3F">
                  <a:shade val="67500"/>
                  <a:satMod val="115000"/>
                </a:srgbClr>
              </a:gs>
              <a:gs pos="100000">
                <a:srgbClr val="007C3F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552" dirty="0"/>
          </a:p>
        </p:txBody>
      </p:sp>
      <p:sp>
        <p:nvSpPr>
          <p:cNvPr id="17" name="Rectangle 16"/>
          <p:cNvSpPr/>
          <p:nvPr/>
        </p:nvSpPr>
        <p:spPr>
          <a:xfrm>
            <a:off x="548640" y="331012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Motivation &amp; Questions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133088"/>
            <a:ext cx="6638544" cy="4943856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Hospitals and health agencies hold records that could sharpen how we predict disease, but privacy law stops them pooling the data.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Federated learning trains one shared model without moving any patient record out of the institution holding it.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The rule that merges each site's work is normally chosen for its robustness to noisy or unusual sites.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Robust rules are always scored against FedAvg, which weights each site by how much data it holds, so the biggest site gets the loudest vote.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Robust rules discard that weighting entirely, so two things change at once and nobody had separated them.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We ask: when a robust rule wins, is it the robust statistic winning, or just the end of the loudest vote?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9259823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Background: how federated learning works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10082783"/>
            <a:ext cx="6638544" cy="8022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Each site trains on its own data and sends only the model update, which the server merges into one shared model.</a:t>
            </a:r>
          </a:p>
        </p:txBody>
      </p:sp>
      <p:pic>
        <p:nvPicPr>
          <p:cNvPr id="21" name="Picture 20" descr="posterD_federa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1067941"/>
            <a:ext cx="6638544" cy="26060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48640" y="13856861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Dataset: two health datasets, split 20 ways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14679821"/>
            <a:ext cx="6638544" cy="2517648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CDC BRFSS 2023: 382,709 U.S. adults, predicting self-reported depression, which 20.7% of respondents report.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UCI Breast Cancer Wisconsin runs alongside as a clean clinical benchmark.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Each dataset is dealt to 20 simulated sites by Dirichlet partitioning, whose dial alpha sets how lopsided the split is.</a:t>
            </a:r>
          </a:p>
        </p:txBody>
      </p:sp>
      <p:pic>
        <p:nvPicPr>
          <p:cNvPr id="24" name="Picture 23" descr="posterF_parti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7380349"/>
            <a:ext cx="6638544" cy="3977639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48640" y="21540869"/>
            <a:ext cx="6638544" cy="8022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At alpha = 0.1 one site holds 106,481 training rows, 34.8% of the total, while two sites receive nothing at all.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22526026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Methods: seven merge rules and one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23348986"/>
            <a:ext cx="6638544" cy="281134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Seven merge rules run head to head: FedAvg, FedProx, CS-Agg, Krum, trimmed mean, coordinate-wise median, and an unweighted mean.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The unweighted mean is our control: it uses no robust statistic and differs from FedAvg only in ignoring how much data each site holds.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Anything the control gains over FedAvg is therefore weighting alone, which is what isolates the effect.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6343210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7166170"/>
            <a:ext cx="6638544" cy="355266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[1]  McMahan et al. Communication-efficient learning of deep networks from decentralized data. AISTATS, 2017.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[2]  Blanchard et al. Machine learning with adversaries: Byzantine tolerant gradient descent. NIPS, 2017.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[3]  Yin et al. Byzantine-robust distributed learning: towards optimal statistical rates. ICML, 2018.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[4]  Karimireddy et al. Byzantine-robust learning on heterogeneous datasets via bucketing. ICLR, 2022.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[5]  Hsu et al. Measuring the effects of non-identical data distribution for federated visual classification. arXiv:1909.06335, 2019.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600">
                <a:solidFill>
                  <a:srgbClr val="1A1A1A"/>
                </a:solidFill>
                <a:latin typeface="Calibri"/>
              </a:rPr>
              <a:t>[6]  CDC. BRFSS 2023 survey data and documentation.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44383" y="331012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Methods, continued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44383" y="4133088"/>
            <a:ext cx="6638544" cy="3645625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Labels are flipped at 20% of sites, across 0 to 30% of their records.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On BRFSS we flip them only the way real people err, reporting no depression when they have it.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624 conditions cover every combination of rule, dataset, split, noise level and random seed.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Each runs 50 rounds, scored by AUC-ROC on a clean held-out test set the sites never see.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Differences are tested with Wilcoxon signed-rank, Holm-corrected within each of three comparison families.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44383" y="7961593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44383" y="8784553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Most of the gain over FedAvg is weighting, not robustness</a:t>
            </a:r>
          </a:p>
        </p:txBody>
      </p:sp>
      <p:pic>
        <p:nvPicPr>
          <p:cNvPr id="34" name="Picture 33" descr="posterA_decomposi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4383" y="9461209"/>
            <a:ext cx="6638544" cy="67665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644383" y="16410649"/>
            <a:ext cx="6638544" cy="222395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The control alone recovers 79 to 98% of what the three strongest robust rules gain over FedAvg.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Only coordinate-wise median clearly clears it, at +0.0163 AUC (Holm p &lt; 0.0001).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Trimmed mean's +0.0026 is significant but negligible, and CS-Agg cannot be told apart from the control (p = 0.22).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44383" y="18817481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Krum is unreliable, not merely weaker</a:t>
            </a:r>
          </a:p>
        </p:txBody>
      </p:sp>
      <p:pic>
        <p:nvPicPr>
          <p:cNvPr id="37" name="Picture 36" descr="posterC_runleve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4383" y="19494137"/>
            <a:ext cx="6638544" cy="566928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644383" y="25346297"/>
            <a:ext cx="6638544" cy="802277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Krum lands below the control and collapses to 0.328 AUC on one run, worse than a coin flip.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644383" y="26331454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Code &amp;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44383" y="27154414"/>
            <a:ext cx="4992624" cy="1806810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All code, the merged results and a script that re-checks every number on this poster are openly available.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900">
                <a:solidFill>
                  <a:srgbClr val="1A1A1A"/>
                </a:solidFill>
                <a:latin typeface="Calibri"/>
              </a:rPr>
              <a:t>github.com/kunalchevuri/federated-learning-health-robustness</a:t>
            </a:r>
          </a:p>
        </p:txBody>
      </p:sp>
      <p:pic>
        <p:nvPicPr>
          <p:cNvPr id="41" name="Picture 40" descr="posterE_q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819888" y="27172702"/>
            <a:ext cx="1417320" cy="141732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14740128" y="331012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Results, continued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4740128" y="4133088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Lopsided data hurts far more than broken labels</a:t>
            </a:r>
          </a:p>
        </p:txBody>
      </p:sp>
      <p:pic>
        <p:nvPicPr>
          <p:cNvPr id="44" name="Picture 43" descr="posterG_stressor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40128" y="4809744"/>
            <a:ext cx="6638544" cy="38862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4740128" y="8878824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Moving from alpha = 1.0 to 0.1 costs FedAvg 0.2348 AUC, while 0% to 30% label noise costs it 0.0016.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That 149x gap narrows to about 14x when sites track twelve health variables instead of four, but it never closes.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4740128" y="10574818"/>
            <a:ext cx="6638544" cy="566928"/>
          </a:xfrm>
          <a:prstGeom prst="rect">
            <a:avLst/>
          </a:prstGeom>
          <a:solidFill>
            <a:srgbClr val="3F8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A clean benchmark would have hidden all of this</a:t>
            </a:r>
          </a:p>
        </p:txBody>
      </p:sp>
      <p:pic>
        <p:nvPicPr>
          <p:cNvPr id="47" name="Picture 46" descr="posterB_both_dataset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740128" y="11251474"/>
            <a:ext cx="6638544" cy="6217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4740128" y="17652274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On Breast Cancer every rule but Krum reaches 0.997 AUC or better, where no difference between them is visible.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Messy, self-reported population health data is where these rules actually separate.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4740128" y="19348268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Future Directions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4740128" y="20171228"/>
            <a:ext cx="6638544" cy="222395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Test adaptive Byzantine attackers, not only the label noise studied here.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Replace the simulated Dirichlet split with data partitioned across real institutions.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Check whether the weighting effect persists for deeper models and larger numbers of sites.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740128" y="22578060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Conclusions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740128" y="23401020"/>
            <a:ext cx="6638544" cy="3522181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Most of the advantage robust aggregators hold over FedAvg comes from how they weight sites, not from the robust statistic they are named for.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Any robustness evaluation run on size-skewed data should include an unweighted-mean control.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The control costs one line of code, and without it a reported gain cannot be credited to robustness.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A rule's reputation is not evidence: Krum is widely cited and failed here, while coordinate-wise median is simple and held.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4740128" y="27106081"/>
            <a:ext cx="6638544" cy="713232"/>
          </a:xfrm>
          <a:prstGeom prst="rect">
            <a:avLst/>
          </a:prstGeom>
          <a:solidFill>
            <a:srgbClr val="007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0" bIns="0"/>
          <a:lstStyle/>
          <a:p>
            <a:pPr algn="l"/>
            <a:r>
              <a:rPr sz="2500" b="1">
                <a:solidFill>
                  <a:srgbClr val="FFFFFF"/>
                </a:solidFill>
                <a:latin typeface="Calibri"/>
              </a:rPr>
              <a:t>Acknowledgements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740128" y="27929041"/>
            <a:ext cx="6638544" cy="1513114"/>
          </a:xfrm>
          <a:prstGeom prst="rect">
            <a:avLst/>
          </a:prstGeom>
          <a:noFill/>
        </p:spPr>
        <p:txBody>
          <a:bodyPr wrap="square" lIns="54864" rIns="0" tIns="0" bIns="0">
            <a:spAutoFit/>
          </a:bodyPr>
          <a:lstStyle/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Survey data collected and published by the Centers for Disease Control and Prevention (BRFSS 2023).</a:t>
            </a:r>
          </a:p>
          <a:p>
            <a:pPr indent="-215900" marL="215900">
              <a:spcBef>
                <a:spcPts val="0"/>
              </a:spcBef>
              <a:spcAft>
                <a:spcPts val="800"/>
              </a:spcAft>
              <a:buFont typeface="Arial"/>
              <a:buChar char="•"/>
            </a:pPr>
            <a:r>
              <a:rPr sz="1900">
                <a:solidFill>
                  <a:srgbClr val="1A1A1A"/>
                </a:solidFill>
                <a:latin typeface="Calibri"/>
              </a:rPr>
              <a:t>Carried out in the Computational Healthcare and Biotechnology Lab, University of North Texas.</a:t>
            </a:r>
          </a:p>
        </p:txBody>
      </p:sp>
    </p:spTree>
    <p:extLst>
      <p:ext uri="{BB962C8B-B14F-4D97-AF65-F5344CB8AC3E}">
        <p14:creationId xmlns:p14="http://schemas.microsoft.com/office/powerpoint/2010/main" val="1040036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5C000D45010C7498D05733EBEC534BB" ma:contentTypeVersion="14" ma:contentTypeDescription="Create a new document." ma:contentTypeScope="" ma:versionID="666928a412aa3dea9808672f3c058c78">
  <xsd:schema xmlns:xsd="http://www.w3.org/2001/XMLSchema" xmlns:xs="http://www.w3.org/2001/XMLSchema" xmlns:p="http://schemas.microsoft.com/office/2006/metadata/properties" xmlns:ns3="1ae659e6-6caa-423e-b45e-6e0e75551422" xmlns:ns4="d00c5bf2-b36b-4152-bf85-3189f2158ece" targetNamespace="http://schemas.microsoft.com/office/2006/metadata/properties" ma:root="true" ma:fieldsID="aef7f1b3973d20bec3fae934efbd0a2b" ns3:_="" ns4:_="">
    <xsd:import namespace="1ae659e6-6caa-423e-b45e-6e0e75551422"/>
    <xsd:import namespace="d00c5bf2-b36b-4152-bf85-3189f2158ec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e659e6-6caa-423e-b45e-6e0e755514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0c5bf2-b36b-4152-bf85-3189f2158ece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1D5FCE8-B829-45B1-A51F-D8BECFA6CED7}">
  <ds:schemaRefs>
    <ds:schemaRef ds:uri="d00c5bf2-b36b-4152-bf85-3189f2158ece"/>
    <ds:schemaRef ds:uri="http://purl.org/dc/elements/1.1/"/>
    <ds:schemaRef ds:uri="http://www.w3.org/XML/1998/namespace"/>
    <ds:schemaRef ds:uri="http://schemas.microsoft.com/office/infopath/2007/PartnerControls"/>
    <ds:schemaRef ds:uri="1ae659e6-6caa-423e-b45e-6e0e75551422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29E675F4-C097-48DE-8DE6-7CDCDDE126E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0749E7D-E8B1-41CD-A3F0-65354B955A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e659e6-6caa-423e-b45e-6e0e75551422"/>
    <ds:schemaRef ds:uri="d00c5bf2-b36b-4152-bf85-3189f2158ec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37f4b8a2-ad4f-41b5-9a91-284d2cc38f56}" enabled="1" method="Standard" siteId="{70de1992-07c6-480f-a318-a1afcba0398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314</TotalTime>
  <Words>827</Words>
  <Application>Microsoft Office PowerPoint</Application>
  <PresentationFormat>Custom</PresentationFormat>
  <Paragraphs>35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2013 - 2022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Chavez, Adam</dc:creator>
  <cp:lastModifiedBy>Chavez, Adam</cp:lastModifiedBy>
  <cp:revision>12</cp:revision>
  <cp:lastPrinted>2025-04-23T22:44:43Z</cp:lastPrinted>
  <dcterms:created xsi:type="dcterms:W3CDTF">2022-10-20T17:08:55Z</dcterms:created>
  <dcterms:modified xsi:type="dcterms:W3CDTF">2026-08-27T21:06:38Z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0x01010045C000D45010C7498D05733EBEC534BB</vt:lpwstr>
  </property>
</Properties>
</file>